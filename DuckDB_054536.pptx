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18288000" cy="10287000"/>
  <p:notesSz cx="6858000" cy="9144000"/>
  <p:embeddedFontLst>
    <p:embeddedFont>
      <p:font typeface="Arial Bold" charset="1" panose="020B0704020202020204"/>
      <p:regular r:id="rId13"/>
    </p:embeddedFont>
    <p:embeddedFont>
      <p:font typeface="Open Sans Bold" charset="1" panose="020B0806030504020204"/>
      <p:regular r:id="rId14"/>
    </p:embeddedFont>
    <p:embeddedFont>
      <p:font typeface="Open Sans" charset="1" panose="020B0606030504020204"/>
      <p:regular r:id="rId15"/>
    </p:embeddedFont>
    <p:embeddedFont>
      <p:font typeface="Arial" charset="1" panose="020B0604020202020204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jpeg" Type="http://schemas.openxmlformats.org/officeDocument/2006/relationships/image"/><Relationship Id="rId6" Target="../media/image5.jpeg" Type="http://schemas.openxmlformats.org/officeDocument/2006/relationships/image"/><Relationship Id="rId7" Target="../media/image6.jpeg" Type="http://schemas.openxmlformats.org/officeDocument/2006/relationships/image"/><Relationship Id="rId8" Target="../media/image7.jpe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11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0.png" Type="http://schemas.openxmlformats.org/officeDocument/2006/relationships/image"/><Relationship Id="rId11" Target="../media/image21.svg" Type="http://schemas.openxmlformats.org/officeDocument/2006/relationships/image"/><Relationship Id="rId2" Target="../media/image12.png" Type="http://schemas.openxmlformats.org/officeDocument/2006/relationships/image"/><Relationship Id="rId3" Target="../media/image13.png" Type="http://schemas.openxmlformats.org/officeDocument/2006/relationships/image"/><Relationship Id="rId4" Target="../media/image14.png" Type="http://schemas.openxmlformats.org/officeDocument/2006/relationships/image"/><Relationship Id="rId5" Target="../media/image15.png" Type="http://schemas.openxmlformats.org/officeDocument/2006/relationships/image"/><Relationship Id="rId6" Target="../media/image16.svg" Type="http://schemas.openxmlformats.org/officeDocument/2006/relationships/image"/><Relationship Id="rId7" Target="../media/image17.png" Type="http://schemas.openxmlformats.org/officeDocument/2006/relationships/image"/><Relationship Id="rId8" Target="../media/image18.svg" Type="http://schemas.openxmlformats.org/officeDocument/2006/relationships/image"/><Relationship Id="rId9" Target="../media/image19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2.png" Type="http://schemas.openxmlformats.org/officeDocument/2006/relationships/image"/><Relationship Id="rId3" Target="../media/image8.png" Type="http://schemas.openxmlformats.org/officeDocument/2006/relationships/image"/><Relationship Id="rId4" Target="../media/image23.png" Type="http://schemas.openxmlformats.org/officeDocument/2006/relationships/image"/><Relationship Id="rId5" Target="../media/image24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5.png" Type="http://schemas.openxmlformats.org/officeDocument/2006/relationships/image"/><Relationship Id="rId3" Target="../media/image26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7.png" Type="http://schemas.openxmlformats.org/officeDocument/2006/relationships/image"/><Relationship Id="rId3" Target="../media/image28.svg" Type="http://schemas.openxmlformats.org/officeDocument/2006/relationships/image"/><Relationship Id="rId4" Target="../media/image29.png" Type="http://schemas.openxmlformats.org/officeDocument/2006/relationships/image"/><Relationship Id="rId5" Target="../media/image30.svg" Type="http://schemas.openxmlformats.org/officeDocument/2006/relationships/image"/><Relationship Id="rId6" Target="../media/image31.png" Type="http://schemas.openxmlformats.org/officeDocument/2006/relationships/image"/><Relationship Id="rId7" Target="../media/image32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1B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0" y="0"/>
            <a:ext cx="9144000" cy="128541"/>
            <a:chOff x="0" y="0"/>
            <a:chExt cx="2408296" cy="3385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08296" cy="33854"/>
            </a:xfrm>
            <a:custGeom>
              <a:avLst/>
              <a:gdLst/>
              <a:ahLst/>
              <a:cxnLst/>
              <a:rect r="r" b="b" t="t" l="l"/>
              <a:pathLst>
                <a:path h="33854" w="2408296">
                  <a:moveTo>
                    <a:pt x="0" y="0"/>
                  </a:moveTo>
                  <a:lnTo>
                    <a:pt x="2408296" y="0"/>
                  </a:lnTo>
                  <a:lnTo>
                    <a:pt x="2408296" y="33854"/>
                  </a:lnTo>
                  <a:lnTo>
                    <a:pt x="0" y="33854"/>
                  </a:lnTo>
                  <a:close/>
                </a:path>
              </a:pathLst>
            </a:custGeom>
            <a:solidFill>
              <a:srgbClr val="8F8451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08296" cy="719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0" y="10158459"/>
            <a:ext cx="9144000" cy="128541"/>
            <a:chOff x="0" y="0"/>
            <a:chExt cx="2408296" cy="3385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408296" cy="33854"/>
            </a:xfrm>
            <a:custGeom>
              <a:avLst/>
              <a:gdLst/>
              <a:ahLst/>
              <a:cxnLst/>
              <a:rect r="r" b="b" t="t" l="l"/>
              <a:pathLst>
                <a:path h="33854" w="2408296">
                  <a:moveTo>
                    <a:pt x="0" y="0"/>
                  </a:moveTo>
                  <a:lnTo>
                    <a:pt x="2408296" y="0"/>
                  </a:lnTo>
                  <a:lnTo>
                    <a:pt x="2408296" y="33854"/>
                  </a:lnTo>
                  <a:lnTo>
                    <a:pt x="0" y="33854"/>
                  </a:lnTo>
                  <a:close/>
                </a:path>
              </a:pathLst>
            </a:custGeom>
            <a:solidFill>
              <a:srgbClr val="8F8451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2408296" cy="719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16631633" y="8453599"/>
            <a:ext cx="1255333" cy="1609402"/>
          </a:xfrm>
          <a:custGeom>
            <a:avLst/>
            <a:gdLst/>
            <a:ahLst/>
            <a:cxnLst/>
            <a:rect r="r" b="b" t="t" l="l"/>
            <a:pathLst>
              <a:path h="1609402" w="1255333">
                <a:moveTo>
                  <a:pt x="0" y="0"/>
                </a:moveTo>
                <a:lnTo>
                  <a:pt x="1255334" y="0"/>
                </a:lnTo>
                <a:lnTo>
                  <a:pt x="1255334" y="1609402"/>
                </a:lnTo>
                <a:lnTo>
                  <a:pt x="0" y="16094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4758040" y="6472662"/>
            <a:ext cx="2800120" cy="2268097"/>
          </a:xfrm>
          <a:custGeom>
            <a:avLst/>
            <a:gdLst/>
            <a:ahLst/>
            <a:cxnLst/>
            <a:rect r="r" b="b" t="t" l="l"/>
            <a:pathLst>
              <a:path h="2268097" w="2800120">
                <a:moveTo>
                  <a:pt x="0" y="0"/>
                </a:moveTo>
                <a:lnTo>
                  <a:pt x="2800120" y="0"/>
                </a:lnTo>
                <a:lnTo>
                  <a:pt x="2800120" y="2268098"/>
                </a:lnTo>
                <a:lnTo>
                  <a:pt x="0" y="226809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3794411" y="4119523"/>
            <a:ext cx="10730636" cy="3487188"/>
            <a:chOff x="0" y="0"/>
            <a:chExt cx="2826176" cy="91843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826176" cy="918436"/>
            </a:xfrm>
            <a:custGeom>
              <a:avLst/>
              <a:gdLst/>
              <a:ahLst/>
              <a:cxnLst/>
              <a:rect r="r" b="b" t="t" l="l"/>
              <a:pathLst>
                <a:path h="918436" w="2826176">
                  <a:moveTo>
                    <a:pt x="14430" y="0"/>
                  </a:moveTo>
                  <a:lnTo>
                    <a:pt x="2811746" y="0"/>
                  </a:lnTo>
                  <a:cubicBezTo>
                    <a:pt x="2819715" y="0"/>
                    <a:pt x="2826176" y="6460"/>
                    <a:pt x="2826176" y="14430"/>
                  </a:cubicBezTo>
                  <a:lnTo>
                    <a:pt x="2826176" y="904007"/>
                  </a:lnTo>
                  <a:cubicBezTo>
                    <a:pt x="2826176" y="907834"/>
                    <a:pt x="2824655" y="911504"/>
                    <a:pt x="2821949" y="914210"/>
                  </a:cubicBezTo>
                  <a:cubicBezTo>
                    <a:pt x="2819243" y="916916"/>
                    <a:pt x="2815573" y="918436"/>
                    <a:pt x="2811746" y="918436"/>
                  </a:cubicBezTo>
                  <a:lnTo>
                    <a:pt x="14430" y="918436"/>
                  </a:lnTo>
                  <a:cubicBezTo>
                    <a:pt x="6460" y="918436"/>
                    <a:pt x="0" y="911976"/>
                    <a:pt x="0" y="904007"/>
                  </a:cubicBezTo>
                  <a:lnTo>
                    <a:pt x="0" y="14430"/>
                  </a:lnTo>
                  <a:cubicBezTo>
                    <a:pt x="0" y="6460"/>
                    <a:pt x="6460" y="0"/>
                    <a:pt x="14430" y="0"/>
                  </a:cubicBez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47625"/>
              <a:ext cx="2826176" cy="96606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3903642" y="4439734"/>
            <a:ext cx="2391063" cy="2679116"/>
            <a:chOff x="0" y="0"/>
            <a:chExt cx="3188084" cy="357215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388988" y="0"/>
              <a:ext cx="2410108" cy="2410108"/>
            </a:xfrm>
            <a:custGeom>
              <a:avLst/>
              <a:gdLst/>
              <a:ahLst/>
              <a:cxnLst/>
              <a:rect r="r" b="b" t="t" l="l"/>
              <a:pathLst>
                <a:path h="2410108" w="2410108">
                  <a:moveTo>
                    <a:pt x="0" y="0"/>
                  </a:moveTo>
                  <a:lnTo>
                    <a:pt x="2410108" y="0"/>
                  </a:lnTo>
                  <a:lnTo>
                    <a:pt x="2410108" y="2410108"/>
                  </a:lnTo>
                  <a:lnTo>
                    <a:pt x="0" y="24101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 rot="0">
              <a:off x="0" y="2627063"/>
              <a:ext cx="3188084" cy="9450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800"/>
                </a:lnSpc>
              </a:pPr>
              <a:r>
                <a:rPr lang="en-US" sz="2000" b="true">
                  <a:solidFill>
                    <a:srgbClr val="545454"/>
                  </a:solidFill>
                  <a:latin typeface="Arial Bold"/>
                  <a:ea typeface="Arial Bold"/>
                  <a:cs typeface="Arial Bold"/>
                  <a:sym typeface="Arial Bold"/>
                </a:rPr>
                <a:t>Kayo Gabriel Soares da Silva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6704175" y="4439734"/>
            <a:ext cx="2215441" cy="2679116"/>
            <a:chOff x="0" y="0"/>
            <a:chExt cx="2953921" cy="357215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271906" y="0"/>
              <a:ext cx="2410108" cy="2410108"/>
            </a:xfrm>
            <a:custGeom>
              <a:avLst/>
              <a:gdLst/>
              <a:ahLst/>
              <a:cxnLst/>
              <a:rect r="r" b="b" t="t" l="l"/>
              <a:pathLst>
                <a:path h="2410108" w="2410108">
                  <a:moveTo>
                    <a:pt x="0" y="0"/>
                  </a:moveTo>
                  <a:lnTo>
                    <a:pt x="2410108" y="0"/>
                  </a:lnTo>
                  <a:lnTo>
                    <a:pt x="2410108" y="2410108"/>
                  </a:lnTo>
                  <a:lnTo>
                    <a:pt x="0" y="24101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 rot="0">
              <a:off x="0" y="2627063"/>
              <a:ext cx="2953921" cy="9450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800"/>
                </a:lnSpc>
              </a:pPr>
              <a:r>
                <a:rPr lang="en-US" sz="2000" b="true">
                  <a:solidFill>
                    <a:srgbClr val="545454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Ruan Gustavo Soares da Silva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9596961" y="4439734"/>
            <a:ext cx="1807581" cy="2679116"/>
            <a:chOff x="0" y="0"/>
            <a:chExt cx="2410108" cy="3572155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410108" cy="2410108"/>
            </a:xfrm>
            <a:custGeom>
              <a:avLst/>
              <a:gdLst/>
              <a:ahLst/>
              <a:cxnLst/>
              <a:rect r="r" b="b" t="t" l="l"/>
              <a:pathLst>
                <a:path h="2410108" w="2410108">
                  <a:moveTo>
                    <a:pt x="0" y="0"/>
                  </a:moveTo>
                  <a:lnTo>
                    <a:pt x="2410108" y="0"/>
                  </a:lnTo>
                  <a:lnTo>
                    <a:pt x="2410108" y="2410108"/>
                  </a:lnTo>
                  <a:lnTo>
                    <a:pt x="0" y="24101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 rot="0">
              <a:off x="0" y="2627063"/>
              <a:ext cx="2410108" cy="9450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800"/>
                </a:lnSpc>
              </a:pPr>
              <a:r>
                <a:rPr lang="en-US" sz="2000" b="true">
                  <a:solidFill>
                    <a:srgbClr val="545454"/>
                  </a:solidFill>
                  <a:latin typeface="Arial Bold"/>
                  <a:ea typeface="Arial Bold"/>
                  <a:cs typeface="Arial Bold"/>
                  <a:sym typeface="Arial Bold"/>
                </a:rPr>
                <a:t>Gabriel Pereira Goes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2080726" y="4439734"/>
            <a:ext cx="2303632" cy="3018752"/>
            <a:chOff x="0" y="0"/>
            <a:chExt cx="3071509" cy="4025003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320335" y="0"/>
              <a:ext cx="2430839" cy="2410108"/>
            </a:xfrm>
            <a:custGeom>
              <a:avLst/>
              <a:gdLst/>
              <a:ahLst/>
              <a:cxnLst/>
              <a:rect r="r" b="b" t="t" l="l"/>
              <a:pathLst>
                <a:path h="2410108" w="2430839">
                  <a:moveTo>
                    <a:pt x="0" y="0"/>
                  </a:moveTo>
                  <a:lnTo>
                    <a:pt x="2430839" y="0"/>
                  </a:lnTo>
                  <a:lnTo>
                    <a:pt x="2430839" y="2410108"/>
                  </a:lnTo>
                  <a:lnTo>
                    <a:pt x="0" y="24101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-29548" r="-44095" b="-15786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 rot="0">
              <a:off x="0" y="2597311"/>
              <a:ext cx="3071509" cy="14276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800"/>
                </a:lnSpc>
              </a:pPr>
              <a:r>
                <a:rPr lang="en-US" sz="2000" b="true">
                  <a:solidFill>
                    <a:srgbClr val="545454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Matheus Diirr Aguiar Veiga de Souza</a:t>
              </a:r>
            </a:p>
          </p:txBody>
        </p:sp>
      </p:grpSp>
      <p:sp>
        <p:nvSpPr>
          <p:cNvPr name="Freeform 25" id="25"/>
          <p:cNvSpPr/>
          <p:nvPr/>
        </p:nvSpPr>
        <p:spPr>
          <a:xfrm flipH="false" flipV="false" rot="0">
            <a:off x="249594" y="228658"/>
            <a:ext cx="1029030" cy="1029030"/>
          </a:xfrm>
          <a:custGeom>
            <a:avLst/>
            <a:gdLst/>
            <a:ahLst/>
            <a:cxnLst/>
            <a:rect r="r" b="b" t="t" l="l"/>
            <a:pathLst>
              <a:path h="1029030" w="1029030">
                <a:moveTo>
                  <a:pt x="0" y="0"/>
                </a:moveTo>
                <a:lnTo>
                  <a:pt x="1029031" y="0"/>
                </a:lnTo>
                <a:lnTo>
                  <a:pt x="1029031" y="1029030"/>
                </a:lnTo>
                <a:lnTo>
                  <a:pt x="0" y="10290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26" id="26"/>
          <p:cNvSpPr txBox="true"/>
          <p:nvPr/>
        </p:nvSpPr>
        <p:spPr>
          <a:xfrm rot="0">
            <a:off x="6190034" y="2905245"/>
            <a:ext cx="5907932" cy="5429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b="true" sz="3000">
                <a:solidFill>
                  <a:srgbClr val="545454"/>
                </a:solidFill>
                <a:latin typeface="Arial Bold"/>
                <a:ea typeface="Arial Bold"/>
                <a:cs typeface="Arial Bold"/>
                <a:sym typeface="Arial Bold"/>
              </a:rPr>
              <a:t>Avaliação de produto 2 - DuckDB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3122782" y="2292469"/>
            <a:ext cx="12042437" cy="688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true">
                <a:solidFill>
                  <a:srgbClr val="545454"/>
                </a:solidFill>
                <a:latin typeface="Arial Bold"/>
                <a:ea typeface="Arial Bold"/>
                <a:cs typeface="Arial Bold"/>
                <a:sym typeface="Arial Bold"/>
              </a:rPr>
              <a:t>Projeto de Análise e Fluxo de Dados - OLAP e ETL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5197167" y="6871668"/>
            <a:ext cx="1921867" cy="869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00"/>
              </a:lnSpc>
            </a:pPr>
            <a:r>
              <a:rPr lang="en-US" sz="2500" b="true">
                <a:solidFill>
                  <a:srgbClr val="545454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 Squad-10 é insano!!!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4075092" y="3793133"/>
            <a:ext cx="1238250" cy="401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 b="true">
                <a:solidFill>
                  <a:srgbClr val="545454"/>
                </a:solidFill>
                <a:latin typeface="Arial Bold"/>
                <a:ea typeface="Arial Bold"/>
                <a:cs typeface="Arial Bold"/>
                <a:sym typeface="Arial Bold"/>
              </a:rPr>
              <a:t>Membros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1B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0" y="0"/>
            <a:ext cx="9144000" cy="128541"/>
            <a:chOff x="0" y="0"/>
            <a:chExt cx="2408296" cy="3385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08296" cy="33854"/>
            </a:xfrm>
            <a:custGeom>
              <a:avLst/>
              <a:gdLst/>
              <a:ahLst/>
              <a:cxnLst/>
              <a:rect r="r" b="b" t="t" l="l"/>
              <a:pathLst>
                <a:path h="33854" w="2408296">
                  <a:moveTo>
                    <a:pt x="0" y="0"/>
                  </a:moveTo>
                  <a:lnTo>
                    <a:pt x="2408296" y="0"/>
                  </a:lnTo>
                  <a:lnTo>
                    <a:pt x="2408296" y="33854"/>
                  </a:lnTo>
                  <a:lnTo>
                    <a:pt x="0" y="33854"/>
                  </a:lnTo>
                  <a:close/>
                </a:path>
              </a:pathLst>
            </a:custGeom>
            <a:solidFill>
              <a:srgbClr val="8F8451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08296" cy="719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0" y="10158459"/>
            <a:ext cx="9144000" cy="128541"/>
            <a:chOff x="0" y="0"/>
            <a:chExt cx="2408296" cy="3385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408296" cy="33854"/>
            </a:xfrm>
            <a:custGeom>
              <a:avLst/>
              <a:gdLst/>
              <a:ahLst/>
              <a:cxnLst/>
              <a:rect r="r" b="b" t="t" l="l"/>
              <a:pathLst>
                <a:path h="33854" w="2408296">
                  <a:moveTo>
                    <a:pt x="0" y="0"/>
                  </a:moveTo>
                  <a:lnTo>
                    <a:pt x="2408296" y="0"/>
                  </a:lnTo>
                  <a:lnTo>
                    <a:pt x="2408296" y="33854"/>
                  </a:lnTo>
                  <a:lnTo>
                    <a:pt x="0" y="33854"/>
                  </a:lnTo>
                  <a:close/>
                </a:path>
              </a:pathLst>
            </a:custGeom>
            <a:solidFill>
              <a:srgbClr val="8F8451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2408296" cy="719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17430687" y="9302724"/>
            <a:ext cx="658916" cy="855736"/>
          </a:xfrm>
          <a:custGeom>
            <a:avLst/>
            <a:gdLst/>
            <a:ahLst/>
            <a:cxnLst/>
            <a:rect r="r" b="b" t="t" l="l"/>
            <a:pathLst>
              <a:path h="855736" w="658916">
                <a:moveTo>
                  <a:pt x="0" y="0"/>
                </a:moveTo>
                <a:lnTo>
                  <a:pt x="658916" y="0"/>
                </a:lnTo>
                <a:lnTo>
                  <a:pt x="658916" y="855735"/>
                </a:lnTo>
                <a:lnTo>
                  <a:pt x="0" y="8557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2850878" y="2646534"/>
            <a:ext cx="3543300" cy="3366135"/>
          </a:xfrm>
          <a:custGeom>
            <a:avLst/>
            <a:gdLst/>
            <a:ahLst/>
            <a:cxnLst/>
            <a:rect r="r" b="b" t="t" l="l"/>
            <a:pathLst>
              <a:path h="3366135" w="3543300">
                <a:moveTo>
                  <a:pt x="0" y="0"/>
                </a:moveTo>
                <a:lnTo>
                  <a:pt x="3543300" y="0"/>
                </a:lnTo>
                <a:lnTo>
                  <a:pt x="3543300" y="3366135"/>
                </a:lnTo>
                <a:lnTo>
                  <a:pt x="0" y="33661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6803484" y="829626"/>
            <a:ext cx="4681031" cy="688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true">
                <a:solidFill>
                  <a:srgbClr val="545454"/>
                </a:solidFill>
                <a:latin typeface="Arial Bold"/>
                <a:ea typeface="Arial Bold"/>
                <a:cs typeface="Arial Bold"/>
                <a:sym typeface="Arial Bold"/>
              </a:rPr>
              <a:t>O que é o DuckDB?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564952" y="2805919"/>
            <a:ext cx="9791982" cy="29806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545454"/>
                </a:solidFill>
                <a:latin typeface="Open Sans"/>
                <a:ea typeface="Open Sans"/>
                <a:cs typeface="Open Sans"/>
                <a:sym typeface="Open Sans"/>
              </a:rPr>
              <a:t>Banco de dados embarcado;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545454"/>
                </a:solidFill>
                <a:latin typeface="Open Sans"/>
                <a:ea typeface="Open Sans"/>
                <a:cs typeface="Open Sans"/>
                <a:sym typeface="Open Sans"/>
              </a:rPr>
              <a:t>Similar ao Sqlite em certas particularidades;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545454"/>
                </a:solidFill>
                <a:latin typeface="Open Sans"/>
                <a:ea typeface="Open Sans"/>
                <a:cs typeface="Open Sans"/>
                <a:sym typeface="Open Sans"/>
              </a:rPr>
              <a:t>Olap (Online Analytical Processing);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545454"/>
                </a:solidFill>
                <a:latin typeface="Open Sans"/>
                <a:ea typeface="Open Sans"/>
                <a:cs typeface="Open Sans"/>
                <a:sym typeface="Open Sans"/>
              </a:rPr>
              <a:t>Interação com multiplos tipos de arquivos;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545454"/>
                </a:solidFill>
                <a:latin typeface="Open Sans"/>
                <a:ea typeface="Open Sans"/>
                <a:cs typeface="Open Sans"/>
                <a:sym typeface="Open Sans"/>
              </a:rPr>
              <a:t>Possui um ecosistema legal.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1B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0" y="0"/>
            <a:ext cx="9144000" cy="128541"/>
            <a:chOff x="0" y="0"/>
            <a:chExt cx="2408296" cy="3385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08296" cy="33854"/>
            </a:xfrm>
            <a:custGeom>
              <a:avLst/>
              <a:gdLst/>
              <a:ahLst/>
              <a:cxnLst/>
              <a:rect r="r" b="b" t="t" l="l"/>
              <a:pathLst>
                <a:path h="33854" w="2408296">
                  <a:moveTo>
                    <a:pt x="0" y="0"/>
                  </a:moveTo>
                  <a:lnTo>
                    <a:pt x="2408296" y="0"/>
                  </a:lnTo>
                  <a:lnTo>
                    <a:pt x="2408296" y="33854"/>
                  </a:lnTo>
                  <a:lnTo>
                    <a:pt x="0" y="33854"/>
                  </a:lnTo>
                  <a:close/>
                </a:path>
              </a:pathLst>
            </a:custGeom>
            <a:solidFill>
              <a:srgbClr val="8F8451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08296" cy="719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0" y="10158459"/>
            <a:ext cx="9144000" cy="128541"/>
            <a:chOff x="0" y="0"/>
            <a:chExt cx="2408296" cy="3385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408296" cy="33854"/>
            </a:xfrm>
            <a:custGeom>
              <a:avLst/>
              <a:gdLst/>
              <a:ahLst/>
              <a:cxnLst/>
              <a:rect r="r" b="b" t="t" l="l"/>
              <a:pathLst>
                <a:path h="33854" w="2408296">
                  <a:moveTo>
                    <a:pt x="0" y="0"/>
                  </a:moveTo>
                  <a:lnTo>
                    <a:pt x="2408296" y="0"/>
                  </a:lnTo>
                  <a:lnTo>
                    <a:pt x="2408296" y="33854"/>
                  </a:lnTo>
                  <a:lnTo>
                    <a:pt x="0" y="33854"/>
                  </a:lnTo>
                  <a:close/>
                </a:path>
              </a:pathLst>
            </a:custGeom>
            <a:solidFill>
              <a:srgbClr val="8F8451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2408296" cy="719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7243910" y="942975"/>
            <a:ext cx="3800179" cy="688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true">
                <a:solidFill>
                  <a:srgbClr val="545454"/>
                </a:solidFill>
                <a:latin typeface="Arial Bold"/>
                <a:ea typeface="Arial Bold"/>
                <a:cs typeface="Arial Bold"/>
                <a:sym typeface="Arial Bold"/>
              </a:rPr>
              <a:t>Linha do tempo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707431" y="895350"/>
            <a:ext cx="17580569" cy="6090146"/>
            <a:chOff x="0" y="0"/>
            <a:chExt cx="23440759" cy="812019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682069" y="4074996"/>
              <a:ext cx="1570149" cy="1570149"/>
            </a:xfrm>
            <a:custGeom>
              <a:avLst/>
              <a:gdLst/>
              <a:ahLst/>
              <a:cxnLst/>
              <a:rect r="r" b="b" t="t" l="l"/>
              <a:pathLst>
                <a:path h="1570149" w="1570149">
                  <a:moveTo>
                    <a:pt x="0" y="0"/>
                  </a:moveTo>
                  <a:lnTo>
                    <a:pt x="1570149" y="0"/>
                  </a:lnTo>
                  <a:lnTo>
                    <a:pt x="1570149" y="1570149"/>
                  </a:lnTo>
                  <a:lnTo>
                    <a:pt x="0" y="15701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 rot="0">
              <a:off x="0" y="5446958"/>
              <a:ext cx="2934288" cy="84143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476"/>
                </a:lnSpc>
              </a:pPr>
              <a:r>
                <a:rPr lang="en-US" sz="1769" b="true">
                  <a:solidFill>
                    <a:srgbClr val="545454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Nascimento do projeto e pesquisa</a:t>
              </a:r>
            </a:p>
          </p:txBody>
        </p:sp>
        <p:sp>
          <p:nvSpPr>
            <p:cNvPr name="TextBox 12" id="12"/>
            <p:cNvSpPr txBox="true"/>
            <p:nvPr/>
          </p:nvSpPr>
          <p:spPr>
            <a:xfrm rot="0">
              <a:off x="955344" y="7630732"/>
              <a:ext cx="1023599" cy="48946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95"/>
                </a:lnSpc>
              </a:pPr>
              <a:r>
                <a:rPr lang="en-US" sz="2211" b="true">
                  <a:solidFill>
                    <a:srgbClr val="545454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2018</a:t>
              </a:r>
            </a:p>
          </p:txBody>
        </p:sp>
        <p:sp>
          <p:nvSpPr>
            <p:cNvPr name="Freeform 13" id="13"/>
            <p:cNvSpPr/>
            <p:nvPr/>
          </p:nvSpPr>
          <p:spPr>
            <a:xfrm flipH="false" flipV="false" rot="0">
              <a:off x="4936919" y="4004640"/>
              <a:ext cx="961013" cy="1489942"/>
            </a:xfrm>
            <a:custGeom>
              <a:avLst/>
              <a:gdLst/>
              <a:ahLst/>
              <a:cxnLst/>
              <a:rect r="r" b="b" t="t" l="l"/>
              <a:pathLst>
                <a:path h="1489942" w="961013">
                  <a:moveTo>
                    <a:pt x="0" y="0"/>
                  </a:moveTo>
                  <a:lnTo>
                    <a:pt x="961013" y="0"/>
                  </a:lnTo>
                  <a:lnTo>
                    <a:pt x="961013" y="1489943"/>
                  </a:lnTo>
                  <a:lnTo>
                    <a:pt x="0" y="14899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 rot="0">
              <a:off x="3573805" y="5446957"/>
              <a:ext cx="3687242" cy="84143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476"/>
                </a:lnSpc>
                <a:spcBef>
                  <a:spcPct val="0"/>
                </a:spcBef>
              </a:pPr>
              <a:r>
                <a:rPr lang="en-US" b="true" sz="1769">
                  <a:solidFill>
                    <a:srgbClr val="545454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Lançamento Open Source e Primeiro Paper</a:t>
              </a:r>
            </a:p>
          </p:txBody>
        </p:sp>
        <p:sp>
          <p:nvSpPr>
            <p:cNvPr name="TextBox 15" id="15"/>
            <p:cNvSpPr txBox="true"/>
            <p:nvPr/>
          </p:nvSpPr>
          <p:spPr>
            <a:xfrm rot="0">
              <a:off x="4905626" y="7630732"/>
              <a:ext cx="1023599" cy="48946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95"/>
                </a:lnSpc>
              </a:pPr>
              <a:r>
                <a:rPr lang="en-US" sz="2211" b="true">
                  <a:solidFill>
                    <a:srgbClr val="545454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2019</a:t>
              </a:r>
            </a:p>
          </p:txBody>
        </p:sp>
        <p:sp>
          <p:nvSpPr>
            <p:cNvPr name="Freeform 16" id="16"/>
            <p:cNvSpPr/>
            <p:nvPr/>
          </p:nvSpPr>
          <p:spPr>
            <a:xfrm flipH="false" flipV="false" rot="0">
              <a:off x="8512209" y="3770901"/>
              <a:ext cx="1324431" cy="1765909"/>
            </a:xfrm>
            <a:custGeom>
              <a:avLst/>
              <a:gdLst/>
              <a:ahLst/>
              <a:cxnLst/>
              <a:rect r="r" b="b" t="t" l="l"/>
              <a:pathLst>
                <a:path h="1765909" w="1324431">
                  <a:moveTo>
                    <a:pt x="0" y="0"/>
                  </a:moveTo>
                  <a:lnTo>
                    <a:pt x="1324432" y="0"/>
                  </a:lnTo>
                  <a:lnTo>
                    <a:pt x="1324432" y="1765909"/>
                  </a:lnTo>
                  <a:lnTo>
                    <a:pt x="0" y="17659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 rot="0">
              <a:off x="8124646" y="5489185"/>
              <a:ext cx="2099557" cy="84143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476"/>
                </a:lnSpc>
                <a:spcBef>
                  <a:spcPct val="0"/>
                </a:spcBef>
              </a:pPr>
              <a:r>
                <a:rPr lang="en-US" b="true" sz="1769">
                  <a:solidFill>
                    <a:srgbClr val="545454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Fundação da DuckDB Labs</a:t>
              </a:r>
            </a:p>
          </p:txBody>
        </p:sp>
        <p:sp>
          <p:nvSpPr>
            <p:cNvPr name="TextBox 18" id="18"/>
            <p:cNvSpPr txBox="true"/>
            <p:nvPr/>
          </p:nvSpPr>
          <p:spPr>
            <a:xfrm rot="0">
              <a:off x="8662625" y="7630732"/>
              <a:ext cx="1023599" cy="48946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95"/>
                </a:lnSpc>
              </a:pPr>
              <a:r>
                <a:rPr lang="en-US" sz="2211" b="true">
                  <a:solidFill>
                    <a:srgbClr val="545454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2021</a:t>
              </a:r>
            </a:p>
          </p:txBody>
        </p:sp>
        <p:sp>
          <p:nvSpPr>
            <p:cNvPr name="Freeform 19" id="19"/>
            <p:cNvSpPr/>
            <p:nvPr/>
          </p:nvSpPr>
          <p:spPr>
            <a:xfrm flipH="false" flipV="false" rot="0">
              <a:off x="11674965" y="3416261"/>
              <a:ext cx="2000867" cy="2095149"/>
            </a:xfrm>
            <a:custGeom>
              <a:avLst/>
              <a:gdLst/>
              <a:ahLst/>
              <a:cxnLst/>
              <a:rect r="r" b="b" t="t" l="l"/>
              <a:pathLst>
                <a:path h="2095149" w="2000867">
                  <a:moveTo>
                    <a:pt x="0" y="0"/>
                  </a:moveTo>
                  <a:lnTo>
                    <a:pt x="2000867" y="0"/>
                  </a:lnTo>
                  <a:lnTo>
                    <a:pt x="2000867" y="2095149"/>
                  </a:lnTo>
                  <a:lnTo>
                    <a:pt x="0" y="20951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 rot="0">
              <a:off x="11093487" y="5489185"/>
              <a:ext cx="3163823" cy="84143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476"/>
                </a:lnSpc>
                <a:spcBef>
                  <a:spcPct val="0"/>
                </a:spcBef>
              </a:pPr>
              <a:r>
                <a:rPr lang="en-US" b="true" sz="1769">
                  <a:solidFill>
                    <a:srgbClr val="545454"/>
                  </a:solidFill>
                  <a:latin typeface="Arial Bold"/>
                  <a:ea typeface="Arial Bold"/>
                  <a:cs typeface="Arial Bold"/>
                  <a:sym typeface="Arial Bold"/>
                </a:rPr>
                <a:t>Expansão Comercial e MotherDuck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12163599" y="7630732"/>
              <a:ext cx="1023599" cy="48946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95"/>
                </a:lnSpc>
              </a:pPr>
              <a:r>
                <a:rPr lang="en-US" sz="2211" b="true">
                  <a:solidFill>
                    <a:srgbClr val="545454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2022</a:t>
              </a:r>
            </a:p>
          </p:txBody>
        </p:sp>
        <p:sp>
          <p:nvSpPr>
            <p:cNvPr name="Freeform 22" id="22"/>
            <p:cNvSpPr/>
            <p:nvPr/>
          </p:nvSpPr>
          <p:spPr>
            <a:xfrm flipH="false" flipV="false" rot="0">
              <a:off x="14913865" y="3053314"/>
              <a:ext cx="2672997" cy="2392332"/>
            </a:xfrm>
            <a:custGeom>
              <a:avLst/>
              <a:gdLst/>
              <a:ahLst/>
              <a:cxnLst/>
              <a:rect r="r" b="b" t="t" l="l"/>
              <a:pathLst>
                <a:path h="2392332" w="2672997">
                  <a:moveTo>
                    <a:pt x="0" y="0"/>
                  </a:moveTo>
                  <a:lnTo>
                    <a:pt x="2672997" y="0"/>
                  </a:lnTo>
                  <a:lnTo>
                    <a:pt x="2672997" y="2392333"/>
                  </a:lnTo>
                  <a:lnTo>
                    <a:pt x="0" y="23923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 rot="0">
              <a:off x="14812552" y="5479660"/>
              <a:ext cx="2875623" cy="12915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520"/>
                </a:lnSpc>
                <a:spcBef>
                  <a:spcPct val="0"/>
                </a:spcBef>
              </a:pPr>
              <a:r>
                <a:rPr lang="en-US" b="true" sz="1800">
                  <a:solidFill>
                    <a:srgbClr val="545454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Forte adesão do público e expansão do ecosistema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15738564" y="7630732"/>
              <a:ext cx="1023599" cy="48946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95"/>
                </a:lnSpc>
              </a:pPr>
              <a:r>
                <a:rPr lang="en-US" sz="2211" b="true">
                  <a:solidFill>
                    <a:srgbClr val="545454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2023</a:t>
              </a:r>
            </a:p>
          </p:txBody>
        </p:sp>
        <p:sp>
          <p:nvSpPr>
            <p:cNvPr name="Freeform 25" id="25"/>
            <p:cNvSpPr/>
            <p:nvPr/>
          </p:nvSpPr>
          <p:spPr>
            <a:xfrm flipH="false" flipV="false" rot="0">
              <a:off x="17962907" y="0"/>
              <a:ext cx="5477852" cy="7678357"/>
            </a:xfrm>
            <a:custGeom>
              <a:avLst/>
              <a:gdLst/>
              <a:ahLst/>
              <a:cxnLst/>
              <a:rect r="r" b="b" t="t" l="l"/>
              <a:pathLst>
                <a:path h="7678357" w="5477852">
                  <a:moveTo>
                    <a:pt x="0" y="0"/>
                  </a:moveTo>
                  <a:lnTo>
                    <a:pt x="5477852" y="0"/>
                  </a:lnTo>
                  <a:lnTo>
                    <a:pt x="5477852" y="7678357"/>
                  </a:lnTo>
                  <a:lnTo>
                    <a:pt x="0" y="767835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 rot="0">
              <a:off x="18915747" y="5597520"/>
              <a:ext cx="3572172" cy="9450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800"/>
                </a:lnSpc>
                <a:spcBef>
                  <a:spcPct val="0"/>
                </a:spcBef>
              </a:pPr>
              <a:r>
                <a:rPr lang="en-US" b="true" sz="2000">
                  <a:solidFill>
                    <a:srgbClr val="545454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DuckDB 1.0.0 (Marco de Estabilidade)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20320833" y="7630732"/>
              <a:ext cx="762000" cy="4624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800"/>
                </a:lnSpc>
                <a:spcBef>
                  <a:spcPct val="0"/>
                </a:spcBef>
              </a:pPr>
              <a:r>
                <a:rPr lang="en-US" b="true" sz="2000">
                  <a:solidFill>
                    <a:srgbClr val="545454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2024</a:t>
              </a:r>
            </a:p>
          </p:txBody>
        </p:sp>
        <p:sp>
          <p:nvSpPr>
            <p:cNvPr name="AutoShape 28" id="28"/>
            <p:cNvSpPr/>
            <p:nvPr/>
          </p:nvSpPr>
          <p:spPr>
            <a:xfrm>
              <a:off x="93400" y="7447369"/>
              <a:ext cx="22375505" cy="12700"/>
            </a:xfrm>
            <a:prstGeom prst="line">
              <a:avLst/>
            </a:prstGeom>
            <a:ln cap="flat" w="50800">
              <a:solidFill>
                <a:srgbClr val="000000"/>
              </a:solidFill>
              <a:prstDash val="solid"/>
              <a:headEnd type="none" len="sm" w="sm"/>
              <a:tailEnd type="triangle" len="med" w="lg"/>
            </a:ln>
          </p:spPr>
        </p:sp>
      </p:grpSp>
      <p:sp>
        <p:nvSpPr>
          <p:cNvPr name="Freeform 29" id="29"/>
          <p:cNvSpPr/>
          <p:nvPr/>
        </p:nvSpPr>
        <p:spPr>
          <a:xfrm flipH="false" flipV="false" rot="0">
            <a:off x="1689368" y="6379971"/>
            <a:ext cx="203870" cy="192657"/>
          </a:xfrm>
          <a:custGeom>
            <a:avLst/>
            <a:gdLst/>
            <a:ahLst/>
            <a:cxnLst/>
            <a:rect r="r" b="b" t="t" l="l"/>
            <a:pathLst>
              <a:path h="192657" w="203870">
                <a:moveTo>
                  <a:pt x="0" y="0"/>
                </a:moveTo>
                <a:lnTo>
                  <a:pt x="203870" y="0"/>
                </a:lnTo>
                <a:lnTo>
                  <a:pt x="203870" y="192656"/>
                </a:lnTo>
                <a:lnTo>
                  <a:pt x="0" y="19265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0" id="30"/>
          <p:cNvSpPr/>
          <p:nvPr/>
        </p:nvSpPr>
        <p:spPr>
          <a:xfrm flipH="false" flipV="false" rot="0">
            <a:off x="4672301" y="6379971"/>
            <a:ext cx="203870" cy="192657"/>
          </a:xfrm>
          <a:custGeom>
            <a:avLst/>
            <a:gdLst/>
            <a:ahLst/>
            <a:cxnLst/>
            <a:rect r="r" b="b" t="t" l="l"/>
            <a:pathLst>
              <a:path h="192657" w="203870">
                <a:moveTo>
                  <a:pt x="0" y="0"/>
                </a:moveTo>
                <a:lnTo>
                  <a:pt x="203870" y="0"/>
                </a:lnTo>
                <a:lnTo>
                  <a:pt x="203870" y="192656"/>
                </a:lnTo>
                <a:lnTo>
                  <a:pt x="0" y="19265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1" id="31"/>
          <p:cNvSpPr/>
          <p:nvPr/>
        </p:nvSpPr>
        <p:spPr>
          <a:xfrm flipH="false" flipV="false" rot="0">
            <a:off x="7480322" y="6379971"/>
            <a:ext cx="203870" cy="192657"/>
          </a:xfrm>
          <a:custGeom>
            <a:avLst/>
            <a:gdLst/>
            <a:ahLst/>
            <a:cxnLst/>
            <a:rect r="r" b="b" t="t" l="l"/>
            <a:pathLst>
              <a:path h="192657" w="203870">
                <a:moveTo>
                  <a:pt x="0" y="0"/>
                </a:moveTo>
                <a:lnTo>
                  <a:pt x="203870" y="0"/>
                </a:lnTo>
                <a:lnTo>
                  <a:pt x="203870" y="192656"/>
                </a:lnTo>
                <a:lnTo>
                  <a:pt x="0" y="19265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2" id="32"/>
          <p:cNvSpPr/>
          <p:nvPr/>
        </p:nvSpPr>
        <p:spPr>
          <a:xfrm flipH="false" flipV="false" rot="0">
            <a:off x="10112453" y="6379971"/>
            <a:ext cx="203870" cy="192657"/>
          </a:xfrm>
          <a:custGeom>
            <a:avLst/>
            <a:gdLst/>
            <a:ahLst/>
            <a:cxnLst/>
            <a:rect r="r" b="b" t="t" l="l"/>
            <a:pathLst>
              <a:path h="192657" w="203870">
                <a:moveTo>
                  <a:pt x="0" y="0"/>
                </a:moveTo>
                <a:lnTo>
                  <a:pt x="203870" y="0"/>
                </a:lnTo>
                <a:lnTo>
                  <a:pt x="203870" y="192656"/>
                </a:lnTo>
                <a:lnTo>
                  <a:pt x="0" y="19265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3" id="33"/>
          <p:cNvSpPr/>
          <p:nvPr/>
        </p:nvSpPr>
        <p:spPr>
          <a:xfrm flipH="false" flipV="false" rot="0">
            <a:off x="12804105" y="6379971"/>
            <a:ext cx="203870" cy="192657"/>
          </a:xfrm>
          <a:custGeom>
            <a:avLst/>
            <a:gdLst/>
            <a:ahLst/>
            <a:cxnLst/>
            <a:rect r="r" b="b" t="t" l="l"/>
            <a:pathLst>
              <a:path h="192657" w="203870">
                <a:moveTo>
                  <a:pt x="0" y="0"/>
                </a:moveTo>
                <a:lnTo>
                  <a:pt x="203870" y="0"/>
                </a:lnTo>
                <a:lnTo>
                  <a:pt x="203870" y="192656"/>
                </a:lnTo>
                <a:lnTo>
                  <a:pt x="0" y="19265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4" id="34"/>
          <p:cNvSpPr/>
          <p:nvPr/>
        </p:nvSpPr>
        <p:spPr>
          <a:xfrm flipH="false" flipV="false" rot="0">
            <a:off x="16164691" y="6379971"/>
            <a:ext cx="203870" cy="192657"/>
          </a:xfrm>
          <a:custGeom>
            <a:avLst/>
            <a:gdLst/>
            <a:ahLst/>
            <a:cxnLst/>
            <a:rect r="r" b="b" t="t" l="l"/>
            <a:pathLst>
              <a:path h="192657" w="203870">
                <a:moveTo>
                  <a:pt x="0" y="0"/>
                </a:moveTo>
                <a:lnTo>
                  <a:pt x="203870" y="0"/>
                </a:lnTo>
                <a:lnTo>
                  <a:pt x="203870" y="192656"/>
                </a:lnTo>
                <a:lnTo>
                  <a:pt x="0" y="19265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1B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0" y="0"/>
            <a:ext cx="9144000" cy="128541"/>
            <a:chOff x="0" y="0"/>
            <a:chExt cx="2408296" cy="3385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08296" cy="33854"/>
            </a:xfrm>
            <a:custGeom>
              <a:avLst/>
              <a:gdLst/>
              <a:ahLst/>
              <a:cxnLst/>
              <a:rect r="r" b="b" t="t" l="l"/>
              <a:pathLst>
                <a:path h="33854" w="2408296">
                  <a:moveTo>
                    <a:pt x="0" y="0"/>
                  </a:moveTo>
                  <a:lnTo>
                    <a:pt x="2408296" y="0"/>
                  </a:lnTo>
                  <a:lnTo>
                    <a:pt x="2408296" y="33854"/>
                  </a:lnTo>
                  <a:lnTo>
                    <a:pt x="0" y="33854"/>
                  </a:lnTo>
                  <a:close/>
                </a:path>
              </a:pathLst>
            </a:custGeom>
            <a:solidFill>
              <a:srgbClr val="8F8451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08296" cy="719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0" y="10158459"/>
            <a:ext cx="9144000" cy="128541"/>
            <a:chOff x="0" y="0"/>
            <a:chExt cx="2408296" cy="3385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408296" cy="33854"/>
            </a:xfrm>
            <a:custGeom>
              <a:avLst/>
              <a:gdLst/>
              <a:ahLst/>
              <a:cxnLst/>
              <a:rect r="r" b="b" t="t" l="l"/>
              <a:pathLst>
                <a:path h="33854" w="2408296">
                  <a:moveTo>
                    <a:pt x="0" y="0"/>
                  </a:moveTo>
                  <a:lnTo>
                    <a:pt x="2408296" y="0"/>
                  </a:lnTo>
                  <a:lnTo>
                    <a:pt x="2408296" y="33854"/>
                  </a:lnTo>
                  <a:lnTo>
                    <a:pt x="0" y="33854"/>
                  </a:lnTo>
                  <a:close/>
                </a:path>
              </a:pathLst>
            </a:custGeom>
            <a:solidFill>
              <a:srgbClr val="8F8451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2408296" cy="719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15734057" y="7733057"/>
            <a:ext cx="2553943" cy="2553943"/>
          </a:xfrm>
          <a:custGeom>
            <a:avLst/>
            <a:gdLst/>
            <a:ahLst/>
            <a:cxnLst/>
            <a:rect r="r" b="b" t="t" l="l"/>
            <a:pathLst>
              <a:path h="2553943" w="2553943">
                <a:moveTo>
                  <a:pt x="0" y="0"/>
                </a:moveTo>
                <a:lnTo>
                  <a:pt x="2553943" y="0"/>
                </a:lnTo>
                <a:lnTo>
                  <a:pt x="2553943" y="2553943"/>
                </a:lnTo>
                <a:lnTo>
                  <a:pt x="0" y="255394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7534275" y="1248040"/>
            <a:ext cx="3219450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 começo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3895427" y="2743835"/>
            <a:ext cx="10497145" cy="2399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545454"/>
                </a:solidFill>
                <a:latin typeface="Arial"/>
                <a:ea typeface="Arial"/>
                <a:cs typeface="Arial"/>
                <a:sym typeface="Arial"/>
              </a:rPr>
              <a:t>Falta de desempenho no Sqlite;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545454"/>
                </a:solidFill>
                <a:latin typeface="Arial"/>
                <a:ea typeface="Arial"/>
                <a:cs typeface="Arial"/>
                <a:sym typeface="Arial"/>
              </a:rPr>
              <a:t>Criado na mesma instituição onde surgiu o Python;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545454"/>
                </a:solidFill>
                <a:latin typeface="Arial"/>
                <a:ea typeface="Arial"/>
                <a:cs typeface="Arial"/>
                <a:sym typeface="Arial"/>
              </a:rPr>
              <a:t>Arquitetura projetada para alto desempenho local;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545454"/>
                </a:solidFill>
                <a:latin typeface="Arial"/>
                <a:ea typeface="Arial"/>
                <a:cs typeface="Arial"/>
                <a:sym typeface="Arial"/>
              </a:rPr>
              <a:t>Enfretamento ao ceticismo.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1B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0" y="0"/>
            <a:ext cx="9144000" cy="128541"/>
            <a:chOff x="0" y="0"/>
            <a:chExt cx="2408296" cy="3385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08296" cy="33854"/>
            </a:xfrm>
            <a:custGeom>
              <a:avLst/>
              <a:gdLst/>
              <a:ahLst/>
              <a:cxnLst/>
              <a:rect r="r" b="b" t="t" l="l"/>
              <a:pathLst>
                <a:path h="33854" w="2408296">
                  <a:moveTo>
                    <a:pt x="0" y="0"/>
                  </a:moveTo>
                  <a:lnTo>
                    <a:pt x="2408296" y="0"/>
                  </a:lnTo>
                  <a:lnTo>
                    <a:pt x="2408296" y="33854"/>
                  </a:lnTo>
                  <a:lnTo>
                    <a:pt x="0" y="33854"/>
                  </a:lnTo>
                  <a:close/>
                </a:path>
              </a:pathLst>
            </a:custGeom>
            <a:solidFill>
              <a:srgbClr val="8F8451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08296" cy="719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0" y="10158459"/>
            <a:ext cx="9144000" cy="128541"/>
            <a:chOff x="0" y="0"/>
            <a:chExt cx="2408296" cy="3385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408296" cy="33854"/>
            </a:xfrm>
            <a:custGeom>
              <a:avLst/>
              <a:gdLst/>
              <a:ahLst/>
              <a:cxnLst/>
              <a:rect r="r" b="b" t="t" l="l"/>
              <a:pathLst>
                <a:path h="33854" w="2408296">
                  <a:moveTo>
                    <a:pt x="0" y="0"/>
                  </a:moveTo>
                  <a:lnTo>
                    <a:pt x="2408296" y="0"/>
                  </a:lnTo>
                  <a:lnTo>
                    <a:pt x="2408296" y="33854"/>
                  </a:lnTo>
                  <a:lnTo>
                    <a:pt x="0" y="33854"/>
                  </a:lnTo>
                  <a:close/>
                </a:path>
              </a:pathLst>
            </a:custGeom>
            <a:solidFill>
              <a:srgbClr val="8F8451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2408296" cy="719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2066495" y="2418081"/>
            <a:ext cx="2894672" cy="3365897"/>
            <a:chOff x="0" y="0"/>
            <a:chExt cx="3859562" cy="448786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859562" cy="4487863"/>
            </a:xfrm>
            <a:custGeom>
              <a:avLst/>
              <a:gdLst/>
              <a:ahLst/>
              <a:cxnLst/>
              <a:rect r="r" b="b" t="t" l="l"/>
              <a:pathLst>
                <a:path h="4487863" w="3859562">
                  <a:moveTo>
                    <a:pt x="0" y="0"/>
                  </a:moveTo>
                  <a:lnTo>
                    <a:pt x="3859562" y="0"/>
                  </a:lnTo>
                  <a:lnTo>
                    <a:pt x="3859562" y="4487863"/>
                  </a:lnTo>
                  <a:lnTo>
                    <a:pt x="0" y="44878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1929781" y="467140"/>
              <a:ext cx="1410892" cy="1410892"/>
            </a:xfrm>
            <a:custGeom>
              <a:avLst/>
              <a:gdLst/>
              <a:ahLst/>
              <a:cxnLst/>
              <a:rect r="r" b="b" t="t" l="l"/>
              <a:pathLst>
                <a:path h="1410892" w="1410892">
                  <a:moveTo>
                    <a:pt x="0" y="0"/>
                  </a:moveTo>
                  <a:lnTo>
                    <a:pt x="1410893" y="0"/>
                  </a:lnTo>
                  <a:lnTo>
                    <a:pt x="1410893" y="1410893"/>
                  </a:lnTo>
                  <a:lnTo>
                    <a:pt x="0" y="1410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563664" y="125836"/>
              <a:ext cx="1366117" cy="1366117"/>
            </a:xfrm>
            <a:custGeom>
              <a:avLst/>
              <a:gdLst/>
              <a:ahLst/>
              <a:cxnLst/>
              <a:rect r="r" b="b" t="t" l="l"/>
              <a:pathLst>
                <a:path h="1366117" w="1366117">
                  <a:moveTo>
                    <a:pt x="0" y="0"/>
                  </a:moveTo>
                  <a:lnTo>
                    <a:pt x="1366117" y="0"/>
                  </a:lnTo>
                  <a:lnTo>
                    <a:pt x="1366117" y="1366117"/>
                  </a:lnTo>
                  <a:lnTo>
                    <a:pt x="0" y="13661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756330" y="2418081"/>
            <a:ext cx="10329945" cy="6966055"/>
            <a:chOff x="0" y="0"/>
            <a:chExt cx="2720644" cy="1834681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720644" cy="1834681"/>
            </a:xfrm>
            <a:custGeom>
              <a:avLst/>
              <a:gdLst/>
              <a:ahLst/>
              <a:cxnLst/>
              <a:rect r="r" b="b" t="t" l="l"/>
              <a:pathLst>
                <a:path h="1834681" w="2720644">
                  <a:moveTo>
                    <a:pt x="7495" y="0"/>
                  </a:moveTo>
                  <a:lnTo>
                    <a:pt x="2713149" y="0"/>
                  </a:lnTo>
                  <a:cubicBezTo>
                    <a:pt x="2717289" y="0"/>
                    <a:pt x="2720644" y="3355"/>
                    <a:pt x="2720644" y="7495"/>
                  </a:cubicBezTo>
                  <a:lnTo>
                    <a:pt x="2720644" y="1827186"/>
                  </a:lnTo>
                  <a:cubicBezTo>
                    <a:pt x="2720644" y="1831326"/>
                    <a:pt x="2717289" y="1834681"/>
                    <a:pt x="2713149" y="1834681"/>
                  </a:cubicBezTo>
                  <a:lnTo>
                    <a:pt x="7495" y="1834681"/>
                  </a:lnTo>
                  <a:cubicBezTo>
                    <a:pt x="3355" y="1834681"/>
                    <a:pt x="0" y="1831326"/>
                    <a:pt x="0" y="1827186"/>
                  </a:cubicBezTo>
                  <a:lnTo>
                    <a:pt x="0" y="7495"/>
                  </a:lnTo>
                  <a:cubicBezTo>
                    <a:pt x="0" y="3355"/>
                    <a:pt x="3355" y="0"/>
                    <a:pt x="7495" y="0"/>
                  </a:cubicBezTo>
                  <a:close/>
                </a:path>
              </a:pathLst>
            </a:custGeom>
            <a:solidFill>
              <a:srgbClr val="8F8451">
                <a:alpha val="42745"/>
              </a:srgbClr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47625"/>
              <a:ext cx="2720644" cy="188230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Freeform 15" id="15"/>
          <p:cNvSpPr/>
          <p:nvPr/>
        </p:nvSpPr>
        <p:spPr>
          <a:xfrm flipH="false" flipV="false" rot="0">
            <a:off x="6567576" y="2245057"/>
            <a:ext cx="10361915" cy="7013243"/>
          </a:xfrm>
          <a:custGeom>
            <a:avLst/>
            <a:gdLst/>
            <a:ahLst/>
            <a:cxnLst/>
            <a:rect r="r" b="b" t="t" l="l"/>
            <a:pathLst>
              <a:path h="7013243" w="10361915">
                <a:moveTo>
                  <a:pt x="0" y="0"/>
                </a:moveTo>
                <a:lnTo>
                  <a:pt x="10361915" y="0"/>
                </a:lnTo>
                <a:lnTo>
                  <a:pt x="10361915" y="7013243"/>
                </a:lnTo>
                <a:lnTo>
                  <a:pt x="0" y="70132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264" t="0" r="-1264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976312" y="962025"/>
            <a:ext cx="5972175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b="true" sz="3399">
                <a:solidFill>
                  <a:srgbClr val="545454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 grande reconhecimento...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1B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0" y="0"/>
            <a:ext cx="9144000" cy="128541"/>
            <a:chOff x="0" y="0"/>
            <a:chExt cx="2408296" cy="3385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08296" cy="33854"/>
            </a:xfrm>
            <a:custGeom>
              <a:avLst/>
              <a:gdLst/>
              <a:ahLst/>
              <a:cxnLst/>
              <a:rect r="r" b="b" t="t" l="l"/>
              <a:pathLst>
                <a:path h="33854" w="2408296">
                  <a:moveTo>
                    <a:pt x="0" y="0"/>
                  </a:moveTo>
                  <a:lnTo>
                    <a:pt x="2408296" y="0"/>
                  </a:lnTo>
                  <a:lnTo>
                    <a:pt x="2408296" y="33854"/>
                  </a:lnTo>
                  <a:lnTo>
                    <a:pt x="0" y="33854"/>
                  </a:lnTo>
                  <a:close/>
                </a:path>
              </a:pathLst>
            </a:custGeom>
            <a:solidFill>
              <a:srgbClr val="8F8451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08296" cy="719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0" y="10158459"/>
            <a:ext cx="9144000" cy="128541"/>
            <a:chOff x="0" y="0"/>
            <a:chExt cx="2408296" cy="3385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408296" cy="33854"/>
            </a:xfrm>
            <a:custGeom>
              <a:avLst/>
              <a:gdLst/>
              <a:ahLst/>
              <a:cxnLst/>
              <a:rect r="r" b="b" t="t" l="l"/>
              <a:pathLst>
                <a:path h="33854" w="2408296">
                  <a:moveTo>
                    <a:pt x="0" y="0"/>
                  </a:moveTo>
                  <a:lnTo>
                    <a:pt x="2408296" y="0"/>
                  </a:lnTo>
                  <a:lnTo>
                    <a:pt x="2408296" y="33854"/>
                  </a:lnTo>
                  <a:lnTo>
                    <a:pt x="0" y="33854"/>
                  </a:lnTo>
                  <a:close/>
                </a:path>
              </a:pathLst>
            </a:custGeom>
            <a:solidFill>
              <a:srgbClr val="8F8451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2408296" cy="719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11946302" y="2714428"/>
            <a:ext cx="4242062" cy="4114800"/>
          </a:xfrm>
          <a:custGeom>
            <a:avLst/>
            <a:gdLst/>
            <a:ahLst/>
            <a:cxnLst/>
            <a:rect r="r" b="b" t="t" l="l"/>
            <a:pathLst>
              <a:path h="4114800" w="4242062">
                <a:moveTo>
                  <a:pt x="0" y="0"/>
                </a:moveTo>
                <a:lnTo>
                  <a:pt x="4242062" y="0"/>
                </a:lnTo>
                <a:lnTo>
                  <a:pt x="42420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6781800" y="942975"/>
            <a:ext cx="4724400" cy="6159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99"/>
              </a:lnSpc>
              <a:spcBef>
                <a:spcPct val="0"/>
              </a:spcBef>
            </a:pPr>
            <a:r>
              <a:rPr lang="en-US" b="true" sz="3499">
                <a:solidFill>
                  <a:srgbClr val="545454"/>
                </a:solidFill>
                <a:latin typeface="Arial Bold"/>
                <a:ea typeface="Arial Bold"/>
                <a:cs typeface="Arial Bold"/>
                <a:sym typeface="Arial Bold"/>
              </a:rPr>
              <a:t>Marco de Estabilidade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556097" y="3229095"/>
            <a:ext cx="9544645" cy="2999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545454"/>
                </a:solidFill>
                <a:latin typeface="Arial"/>
                <a:ea typeface="Arial"/>
                <a:cs typeface="Arial"/>
                <a:sym typeface="Arial"/>
              </a:rPr>
              <a:t>Crescente adesão de usuários</a:t>
            </a:r>
            <a:r>
              <a:rPr lang="en-US" sz="3399">
                <a:solidFill>
                  <a:srgbClr val="545454"/>
                </a:solidFill>
                <a:latin typeface="Arial"/>
                <a:ea typeface="Arial"/>
                <a:cs typeface="Arial"/>
                <a:sym typeface="Arial"/>
              </a:rPr>
              <a:t>;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545454"/>
                </a:solidFill>
                <a:latin typeface="Arial"/>
                <a:ea typeface="Arial"/>
                <a:cs typeface="Arial"/>
                <a:sym typeface="Arial"/>
              </a:rPr>
              <a:t>Top tier de banco de dados para analise local;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545454"/>
                </a:solidFill>
                <a:latin typeface="Arial"/>
                <a:ea typeface="Arial"/>
                <a:cs typeface="Arial"/>
                <a:sym typeface="Arial"/>
              </a:rPr>
              <a:t>Libs com milhares de downloads;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545454"/>
                </a:solidFill>
                <a:latin typeface="Arial"/>
                <a:ea typeface="Arial"/>
                <a:cs typeface="Arial"/>
                <a:sym typeface="Arial"/>
              </a:rPr>
              <a:t>Economia brutal com analise de dados;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545454"/>
                </a:solidFill>
                <a:latin typeface="Arial"/>
                <a:ea typeface="Arial"/>
                <a:cs typeface="Arial"/>
                <a:sym typeface="Arial"/>
              </a:rPr>
              <a:t>Local first e simplicidade.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1B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5779759" y="3694219"/>
            <a:ext cx="4840941" cy="4114800"/>
          </a:xfrm>
          <a:custGeom>
            <a:avLst/>
            <a:gdLst/>
            <a:ahLst/>
            <a:cxnLst/>
            <a:rect r="r" b="b" t="t" l="l"/>
            <a:pathLst>
              <a:path h="4114800" w="4840941">
                <a:moveTo>
                  <a:pt x="4840942" y="0"/>
                </a:moveTo>
                <a:lnTo>
                  <a:pt x="0" y="0"/>
                </a:lnTo>
                <a:lnTo>
                  <a:pt x="0" y="4114800"/>
                </a:lnTo>
                <a:lnTo>
                  <a:pt x="4840942" y="4114800"/>
                </a:lnTo>
                <a:lnTo>
                  <a:pt x="484094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9144000" y="0"/>
            <a:ext cx="9144000" cy="128541"/>
            <a:chOff x="0" y="0"/>
            <a:chExt cx="2408296" cy="3385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08296" cy="33854"/>
            </a:xfrm>
            <a:custGeom>
              <a:avLst/>
              <a:gdLst/>
              <a:ahLst/>
              <a:cxnLst/>
              <a:rect r="r" b="b" t="t" l="l"/>
              <a:pathLst>
                <a:path h="33854" w="2408296">
                  <a:moveTo>
                    <a:pt x="0" y="0"/>
                  </a:moveTo>
                  <a:lnTo>
                    <a:pt x="2408296" y="0"/>
                  </a:lnTo>
                  <a:lnTo>
                    <a:pt x="2408296" y="33854"/>
                  </a:lnTo>
                  <a:lnTo>
                    <a:pt x="0" y="33854"/>
                  </a:lnTo>
                  <a:close/>
                </a:path>
              </a:pathLst>
            </a:custGeom>
            <a:solidFill>
              <a:srgbClr val="8F8451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2408296" cy="719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0" y="10158459"/>
            <a:ext cx="9144000" cy="128541"/>
            <a:chOff x="0" y="0"/>
            <a:chExt cx="2408296" cy="3385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08296" cy="33854"/>
            </a:xfrm>
            <a:custGeom>
              <a:avLst/>
              <a:gdLst/>
              <a:ahLst/>
              <a:cxnLst/>
              <a:rect r="r" b="b" t="t" l="l"/>
              <a:pathLst>
                <a:path h="33854" w="2408296">
                  <a:moveTo>
                    <a:pt x="0" y="0"/>
                  </a:moveTo>
                  <a:lnTo>
                    <a:pt x="2408296" y="0"/>
                  </a:lnTo>
                  <a:lnTo>
                    <a:pt x="2408296" y="33854"/>
                  </a:lnTo>
                  <a:lnTo>
                    <a:pt x="0" y="33854"/>
                  </a:lnTo>
                  <a:close/>
                </a:path>
              </a:pathLst>
            </a:custGeom>
            <a:solidFill>
              <a:srgbClr val="8F8451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2408296" cy="719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9780623" y="1256147"/>
            <a:ext cx="5175849" cy="4114800"/>
          </a:xfrm>
          <a:custGeom>
            <a:avLst/>
            <a:gdLst/>
            <a:ahLst/>
            <a:cxnLst/>
            <a:rect r="r" b="b" t="t" l="l"/>
            <a:pathLst>
              <a:path h="4114800" w="5175849">
                <a:moveTo>
                  <a:pt x="0" y="0"/>
                </a:moveTo>
                <a:lnTo>
                  <a:pt x="5175849" y="0"/>
                </a:lnTo>
                <a:lnTo>
                  <a:pt x="51758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1594194" y="3429003"/>
            <a:ext cx="1548706" cy="1548706"/>
          </a:xfrm>
          <a:custGeom>
            <a:avLst/>
            <a:gdLst/>
            <a:ahLst/>
            <a:cxnLst/>
            <a:rect r="r" b="b" t="t" l="l"/>
            <a:pathLst>
              <a:path h="1548706" w="1548706">
                <a:moveTo>
                  <a:pt x="0" y="0"/>
                </a:moveTo>
                <a:lnTo>
                  <a:pt x="1548706" y="0"/>
                </a:lnTo>
                <a:lnTo>
                  <a:pt x="1548706" y="1548706"/>
                </a:lnTo>
                <a:lnTo>
                  <a:pt x="0" y="154870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4238315" y="2130787"/>
            <a:ext cx="4312914" cy="3126863"/>
          </a:xfrm>
          <a:custGeom>
            <a:avLst/>
            <a:gdLst/>
            <a:ahLst/>
            <a:cxnLst/>
            <a:rect r="r" b="b" t="t" l="l"/>
            <a:pathLst>
              <a:path h="3126863" w="4312914">
                <a:moveTo>
                  <a:pt x="0" y="0"/>
                </a:moveTo>
                <a:lnTo>
                  <a:pt x="4312914" y="0"/>
                </a:lnTo>
                <a:lnTo>
                  <a:pt x="4312914" y="3126863"/>
                </a:lnTo>
                <a:lnTo>
                  <a:pt x="0" y="31268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10370659" y="1416800"/>
            <a:ext cx="3995777" cy="21405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539"/>
              </a:lnSpc>
            </a:pPr>
            <a:r>
              <a:rPr lang="en-US" b="true" sz="6099">
                <a:solidFill>
                  <a:srgbClr val="545454"/>
                </a:solidFill>
                <a:latin typeface="Arial Bold"/>
                <a:ea typeface="Arial Bold"/>
                <a:cs typeface="Arial Bold"/>
                <a:sym typeface="Arial Bold"/>
              </a:rPr>
              <a:t>Vamos praticar!!!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DAHXKM2HHuI</dc:identifier>
  <dcterms:modified xsi:type="dcterms:W3CDTF">2011-08-01T06:04:30Z</dcterms:modified>
  <cp:revision>1</cp:revision>
  <dc:title>DuckDB</dc:title>
</cp:coreProperties>
</file>