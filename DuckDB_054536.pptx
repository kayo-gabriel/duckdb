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ppt/media/image29.png" ContentType="image/png"/>
  <Override PartName="/ppt/media/image16.svg" ContentType="image/svg"/>
  <Override PartName="/ppt/media/image1.png" ContentType="image/png"/>
  <Override PartName="/ppt/media/image6.jpeg" ContentType="image/jpeg"/>
  <Override PartName="/ppt/media/image20.png" ContentType="image/png"/>
  <Override PartName="/ppt/media/image21.svg" ContentType="image/svg"/>
  <Override PartName="/ppt/media/image2.png" ContentType="image/png"/>
  <Override PartName="/ppt/media/image9.png" ContentType="image/png"/>
  <Override PartName="/ppt/media/image28.svg" ContentType="image/svg"/>
  <Override PartName="/ppt/media/image17.png" ContentType="image/png"/>
  <Override PartName="/ppt/media/image8.png" ContentType="image/png"/>
  <Override PartName="/ppt/media/image30.svg" ContentType="image/svg"/>
  <Override PartName="/ppt/media/image13.png" ContentType="image/png"/>
  <Override PartName="/ppt/media/image12.png" ContentType="image/png"/>
  <Override PartName="/ppt/media/image31.png" ContentType="image/png"/>
  <Override PartName="/ppt/media/image5.jpeg" ContentType="image/jpeg"/>
  <Override PartName="/ppt/media/image4.jpeg" ContentType="image/jpeg"/>
  <Override PartName="/ppt/media/image25.png" ContentType="image/png"/>
  <Override PartName="/ppt/media/image11.png" ContentType="image/png"/>
  <Override PartName="/ppt/media/image3.svg" ContentType="image/svg"/>
  <Override PartName="/ppt/media/image14.png" ContentType="image/png"/>
  <Override PartName="/ppt/media/image15.png" ContentType="image/png"/>
  <Override PartName="/ppt/media/image26.svg" ContentType="image/svg"/>
  <Override PartName="/ppt/media/image7.png" ContentType="image/png"/>
  <Override PartName="/ppt/media/image18.svg" ContentType="image/svg"/>
  <Override PartName="/ppt/media/image19.png" ContentType="image/png"/>
  <Override PartName="/ppt/media/image22.png" ContentType="image/png"/>
  <Override PartName="/ppt/media/image10.svg" ContentType="image/svg"/>
  <Override PartName="/ppt/media/image23.png" ContentType="image/png"/>
  <Override PartName="/ppt/media/image24.png" ContentType="image/png"/>
  <Override PartName="/ppt/media/image2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8BC5C5F-F19A-4157-8252-508925CD6FB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editar o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formato do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texto do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480" cy="59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6A188A1-C0CD-42DD-B73E-DA2F22870CA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ABF08D6-BA71-46BB-844D-448A2BB1342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 to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styl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00B240B-C61A-497F-954C-AAF614E48E4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D936776-9AD6-4710-AF0D-333F8CB257E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008CEA2-E2AC-4FB2-A561-33204742594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340191B-629E-42C2-89EA-3AC105C8907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E0413A5-E113-4E58-AFCF-A13872E6859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F3ED9D2-C924-4FDC-966B-42C6933EE48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D3FD3F3-12BB-4FE7-B067-ADCEDC82221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8693CC4-8AA8-47E2-A803-A3AAF5F9E04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4.jpeg"/><Relationship Id="rId5" Type="http://schemas.openxmlformats.org/officeDocument/2006/relationships/image" Target="../media/image5.jpeg"/><Relationship Id="rId6" Type="http://schemas.openxmlformats.org/officeDocument/2006/relationships/image" Target="../media/image6.jpe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sv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svg"/><Relationship Id="rId6" Type="http://schemas.openxmlformats.org/officeDocument/2006/relationships/image" Target="../media/image17.png"/><Relationship Id="rId7" Type="http://schemas.openxmlformats.org/officeDocument/2006/relationships/image" Target="../media/image18.sv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svg"/><Relationship Id="rId11" Type="http://schemas.openxmlformats.org/officeDocument/2006/relationships/image" Target="../media/image20.png"/><Relationship Id="rId12" Type="http://schemas.openxmlformats.org/officeDocument/2006/relationships/image" Target="../media/image21.svg"/><Relationship Id="rId13" Type="http://schemas.openxmlformats.org/officeDocument/2006/relationships/image" Target="../media/image20.png"/><Relationship Id="rId14" Type="http://schemas.openxmlformats.org/officeDocument/2006/relationships/image" Target="../media/image21.svg"/><Relationship Id="rId15" Type="http://schemas.openxmlformats.org/officeDocument/2006/relationships/image" Target="../media/image20.png"/><Relationship Id="rId16" Type="http://schemas.openxmlformats.org/officeDocument/2006/relationships/image" Target="../media/image21.svg"/><Relationship Id="rId17" Type="http://schemas.openxmlformats.org/officeDocument/2006/relationships/image" Target="../media/image20.png"/><Relationship Id="rId18" Type="http://schemas.openxmlformats.org/officeDocument/2006/relationships/image" Target="../media/image21.svg"/><Relationship Id="rId19" Type="http://schemas.openxmlformats.org/officeDocument/2006/relationships/image" Target="../media/image20.png"/><Relationship Id="rId20" Type="http://schemas.openxmlformats.org/officeDocument/2006/relationships/image" Target="../media/image21.svg"/><Relationship Id="rId2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8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sv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svg"/><Relationship Id="rId3" Type="http://schemas.openxmlformats.org/officeDocument/2006/relationships/image" Target="../media/image29.png"/><Relationship Id="rId4" Type="http://schemas.openxmlformats.org/officeDocument/2006/relationships/image" Target="../media/image30.svg"/><Relationship Id="rId5" Type="http://schemas.openxmlformats.org/officeDocument/2006/relationships/image" Target="../media/image31.png"/><Relationship Id="rId6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1b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2"/>
          <p:cNvGrpSpPr/>
          <p:nvPr/>
        </p:nvGrpSpPr>
        <p:grpSpPr>
          <a:xfrm>
            <a:off x="9144000" y="-144720"/>
            <a:ext cx="9143280" cy="272520"/>
            <a:chOff x="9144000" y="-144720"/>
            <a:chExt cx="9143280" cy="272520"/>
          </a:xfrm>
        </p:grpSpPr>
        <p:sp>
          <p:nvSpPr>
            <p:cNvPr id="60" name="Freeform 3"/>
            <p:cNvSpPr/>
            <p:nvPr/>
          </p:nvSpPr>
          <p:spPr>
            <a:xfrm>
              <a:off x="9144000" y="0"/>
              <a:ext cx="9143280" cy="127800"/>
            </a:xfrm>
            <a:custGeom>
              <a:avLst/>
              <a:gdLst>
                <a:gd name="textAreaLeft" fmla="*/ 0 w 9143280"/>
                <a:gd name="textAreaRight" fmla="*/ 9144000 w 9143280"/>
                <a:gd name="textAreaTop" fmla="*/ 0 h 127800"/>
                <a:gd name="textAreaBottom" fmla="*/ 128520 h 127800"/>
              </a:gdLst>
              <a:ahLst/>
              <a:cxnLst/>
              <a:rect l="textAreaLeft" t="textAreaTop" r="textAreaRight" b="textAreaBottom"/>
              <a:pathLst>
                <a:path w="2408296" h="33854">
                  <a:moveTo>
                    <a:pt x="0" y="0"/>
                  </a:moveTo>
                  <a:lnTo>
                    <a:pt x="2408296" y="0"/>
                  </a:lnTo>
                  <a:lnTo>
                    <a:pt x="2408296" y="33854"/>
                  </a:lnTo>
                  <a:lnTo>
                    <a:pt x="0" y="33854"/>
                  </a:lnTo>
                  <a:close/>
                </a:path>
              </a:pathLst>
            </a:custGeom>
            <a:solidFill>
              <a:srgbClr val="8f845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TextBox 4"/>
            <p:cNvSpPr/>
            <p:nvPr/>
          </p:nvSpPr>
          <p:spPr>
            <a:xfrm>
              <a:off x="9144000" y="-144720"/>
              <a:ext cx="914328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62" name="Group 5"/>
          <p:cNvGrpSpPr/>
          <p:nvPr/>
        </p:nvGrpSpPr>
        <p:grpSpPr>
          <a:xfrm>
            <a:off x="0" y="10013760"/>
            <a:ext cx="9143280" cy="272520"/>
            <a:chOff x="0" y="10013760"/>
            <a:chExt cx="9143280" cy="272520"/>
          </a:xfrm>
        </p:grpSpPr>
        <p:sp>
          <p:nvSpPr>
            <p:cNvPr id="63" name="Freeform 6"/>
            <p:cNvSpPr/>
            <p:nvPr/>
          </p:nvSpPr>
          <p:spPr>
            <a:xfrm>
              <a:off x="0" y="10158480"/>
              <a:ext cx="9143280" cy="127800"/>
            </a:xfrm>
            <a:custGeom>
              <a:avLst/>
              <a:gdLst>
                <a:gd name="textAreaLeft" fmla="*/ 0 w 9143280"/>
                <a:gd name="textAreaRight" fmla="*/ 9144000 w 9143280"/>
                <a:gd name="textAreaTop" fmla="*/ 0 h 127800"/>
                <a:gd name="textAreaBottom" fmla="*/ 128520 h 127800"/>
              </a:gdLst>
              <a:ahLst/>
              <a:cxnLst/>
              <a:rect l="textAreaLeft" t="textAreaTop" r="textAreaRight" b="textAreaBottom"/>
              <a:pathLst>
                <a:path w="2408296" h="33854">
                  <a:moveTo>
                    <a:pt x="0" y="0"/>
                  </a:moveTo>
                  <a:lnTo>
                    <a:pt x="2408296" y="0"/>
                  </a:lnTo>
                  <a:lnTo>
                    <a:pt x="2408296" y="33854"/>
                  </a:lnTo>
                  <a:lnTo>
                    <a:pt x="0" y="33854"/>
                  </a:lnTo>
                  <a:close/>
                </a:path>
              </a:pathLst>
            </a:custGeom>
            <a:solidFill>
              <a:srgbClr val="8f845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TextBox 7"/>
            <p:cNvSpPr/>
            <p:nvPr/>
          </p:nvSpPr>
          <p:spPr>
            <a:xfrm>
              <a:off x="0" y="10013760"/>
              <a:ext cx="914328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65" name="Freeform 8"/>
          <p:cNvSpPr/>
          <p:nvPr/>
        </p:nvSpPr>
        <p:spPr>
          <a:xfrm>
            <a:off x="16631640" y="8453520"/>
            <a:ext cx="1254600" cy="1608840"/>
          </a:xfrm>
          <a:custGeom>
            <a:avLst/>
            <a:gdLst>
              <a:gd name="textAreaLeft" fmla="*/ 0 w 1254600"/>
              <a:gd name="textAreaRight" fmla="*/ 1255320 w 1254600"/>
              <a:gd name="textAreaTop" fmla="*/ 0 h 1608840"/>
              <a:gd name="textAreaBottom" fmla="*/ 1609560 h 1608840"/>
            </a:gdLst>
            <a:ahLst/>
            <a:cxnLst/>
            <a:rect l="textAreaLeft" t="textAreaTop" r="textAreaRight" b="textAreaBottom"/>
            <a:pathLst>
              <a:path w="1255333" h="1609402">
                <a:moveTo>
                  <a:pt x="0" y="0"/>
                </a:moveTo>
                <a:lnTo>
                  <a:pt x="1255334" y="0"/>
                </a:lnTo>
                <a:lnTo>
                  <a:pt x="1255334" y="1609402"/>
                </a:lnTo>
                <a:lnTo>
                  <a:pt x="0" y="160940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Freeform 9"/>
          <p:cNvSpPr/>
          <p:nvPr/>
        </p:nvSpPr>
        <p:spPr>
          <a:xfrm>
            <a:off x="14758200" y="6472800"/>
            <a:ext cx="2799360" cy="2267280"/>
          </a:xfrm>
          <a:custGeom>
            <a:avLst/>
            <a:gdLst>
              <a:gd name="textAreaLeft" fmla="*/ 0 w 2799360"/>
              <a:gd name="textAreaRight" fmla="*/ 2800080 w 2799360"/>
              <a:gd name="textAreaTop" fmla="*/ 0 h 2267280"/>
              <a:gd name="textAreaBottom" fmla="*/ 2268000 h 2267280"/>
            </a:gdLst>
            <a:ahLst/>
            <a:cxnLst/>
            <a:rect l="textAreaLeft" t="textAreaTop" r="textAreaRight" b="textAreaBottom"/>
            <a:pathLst>
              <a:path w="2800120" h="2268097">
                <a:moveTo>
                  <a:pt x="0" y="0"/>
                </a:moveTo>
                <a:lnTo>
                  <a:pt x="2800120" y="0"/>
                </a:lnTo>
                <a:lnTo>
                  <a:pt x="2800120" y="2268098"/>
                </a:lnTo>
                <a:lnTo>
                  <a:pt x="0" y="226809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7" name="Group 10"/>
          <p:cNvGrpSpPr/>
          <p:nvPr/>
        </p:nvGrpSpPr>
        <p:grpSpPr>
          <a:xfrm>
            <a:off x="3794400" y="3938760"/>
            <a:ext cx="10729800" cy="3667320"/>
            <a:chOff x="3794400" y="3938760"/>
            <a:chExt cx="10729800" cy="3667320"/>
          </a:xfrm>
        </p:grpSpPr>
        <p:sp>
          <p:nvSpPr>
            <p:cNvPr id="68" name="Freeform 11"/>
            <p:cNvSpPr/>
            <p:nvPr/>
          </p:nvSpPr>
          <p:spPr>
            <a:xfrm>
              <a:off x="3794400" y="4119480"/>
              <a:ext cx="10729800" cy="3486600"/>
            </a:xfrm>
            <a:custGeom>
              <a:avLst/>
              <a:gdLst>
                <a:gd name="textAreaLeft" fmla="*/ 0 w 10729800"/>
                <a:gd name="textAreaRight" fmla="*/ 10730520 w 10729800"/>
                <a:gd name="textAreaTop" fmla="*/ 0 h 3486600"/>
                <a:gd name="textAreaBottom" fmla="*/ 3487320 h 3486600"/>
              </a:gdLst>
              <a:ahLst/>
              <a:cxnLst/>
              <a:rect l="textAreaLeft" t="textAreaTop" r="textAreaRight" b="textAreaBottom"/>
              <a:pathLst>
                <a:path w="2826176" h="918436">
                  <a:moveTo>
                    <a:pt x="14430" y="0"/>
                  </a:moveTo>
                  <a:lnTo>
                    <a:pt x="2811746" y="0"/>
                  </a:lnTo>
                  <a:cubicBezTo>
                    <a:pt x="2819715" y="0"/>
                    <a:pt x="2826176" y="6460"/>
                    <a:pt x="2826176" y="14430"/>
                  </a:cubicBezTo>
                  <a:lnTo>
                    <a:pt x="2826176" y="904007"/>
                  </a:lnTo>
                  <a:cubicBezTo>
                    <a:pt x="2826176" y="907834"/>
                    <a:pt x="2824655" y="911504"/>
                    <a:pt x="2821949" y="914210"/>
                  </a:cubicBezTo>
                  <a:cubicBezTo>
                    <a:pt x="2819243" y="916916"/>
                    <a:pt x="2815573" y="918436"/>
                    <a:pt x="2811746" y="918436"/>
                  </a:cubicBezTo>
                  <a:lnTo>
                    <a:pt x="14430" y="918436"/>
                  </a:lnTo>
                  <a:cubicBezTo>
                    <a:pt x="6460" y="918436"/>
                    <a:pt x="0" y="911976"/>
                    <a:pt x="0" y="904007"/>
                  </a:cubicBezTo>
                  <a:lnTo>
                    <a:pt x="0" y="14430"/>
                  </a:lnTo>
                  <a:cubicBezTo>
                    <a:pt x="0" y="6460"/>
                    <a:pt x="6460" y="0"/>
                    <a:pt x="14430" y="0"/>
                  </a:cubicBezTo>
                  <a:close/>
                </a:path>
              </a:pathLst>
            </a:custGeom>
            <a:noFill/>
            <a:ln cap="sq"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TextBox 12"/>
            <p:cNvSpPr/>
            <p:nvPr/>
          </p:nvSpPr>
          <p:spPr>
            <a:xfrm>
              <a:off x="3794400" y="3938760"/>
              <a:ext cx="10729800" cy="3667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801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70" name="Group 13"/>
          <p:cNvGrpSpPr/>
          <p:nvPr/>
        </p:nvGrpSpPr>
        <p:grpSpPr>
          <a:xfrm>
            <a:off x="3903480" y="4439880"/>
            <a:ext cx="2390400" cy="2678400"/>
            <a:chOff x="3903480" y="4439880"/>
            <a:chExt cx="2390400" cy="2678400"/>
          </a:xfrm>
        </p:grpSpPr>
        <p:sp>
          <p:nvSpPr>
            <p:cNvPr id="71" name="Freeform 14"/>
            <p:cNvSpPr/>
            <p:nvPr/>
          </p:nvSpPr>
          <p:spPr>
            <a:xfrm>
              <a:off x="4195440" y="4439880"/>
              <a:ext cx="1806840" cy="1806840"/>
            </a:xfrm>
            <a:custGeom>
              <a:avLst/>
              <a:gdLst>
                <a:gd name="textAreaLeft" fmla="*/ 0 w 1806840"/>
                <a:gd name="textAreaRight" fmla="*/ 1807560 w 1806840"/>
                <a:gd name="textAreaTop" fmla="*/ 0 h 1806840"/>
                <a:gd name="textAreaBottom" fmla="*/ 1807560 h 1806840"/>
              </a:gdLst>
              <a:ahLst/>
              <a:cxnLst/>
              <a:rect l="textAreaLeft" t="textAreaTop" r="textAreaRight" b="textAreaBottom"/>
              <a:pathLst>
                <a:path w="2410108" h="2410108">
                  <a:moveTo>
                    <a:pt x="0" y="0"/>
                  </a:moveTo>
                  <a:lnTo>
                    <a:pt x="2410108" y="0"/>
                  </a:lnTo>
                  <a:lnTo>
                    <a:pt x="2410108" y="2410108"/>
                  </a:lnTo>
                  <a:lnTo>
                    <a:pt x="0" y="241010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TextBox 15"/>
            <p:cNvSpPr/>
            <p:nvPr/>
          </p:nvSpPr>
          <p:spPr>
            <a:xfrm>
              <a:off x="3903480" y="6410160"/>
              <a:ext cx="2390400" cy="70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2801"/>
                </a:lnSpc>
              </a:pPr>
              <a:r>
                <a:rPr b="1" lang="en-US" sz="2000" strike="noStrike" u="none">
                  <a:solidFill>
                    <a:srgbClr val="545454"/>
                  </a:solidFill>
                  <a:effectLst/>
                  <a:uFillTx/>
                  <a:latin typeface="Arial Bold"/>
                  <a:ea typeface="Arial Bold"/>
                </a:rPr>
                <a:t>Kayo Gabriel Soares da Silva</a:t>
              </a:r>
              <a:endPara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3" name="Group 16"/>
          <p:cNvGrpSpPr/>
          <p:nvPr/>
        </p:nvGrpSpPr>
        <p:grpSpPr>
          <a:xfrm>
            <a:off x="6704280" y="4439880"/>
            <a:ext cx="2214720" cy="2678400"/>
            <a:chOff x="6704280" y="4439880"/>
            <a:chExt cx="2214720" cy="2678400"/>
          </a:xfrm>
        </p:grpSpPr>
        <p:sp>
          <p:nvSpPr>
            <p:cNvPr id="74" name="Freeform 17"/>
            <p:cNvSpPr/>
            <p:nvPr/>
          </p:nvSpPr>
          <p:spPr>
            <a:xfrm>
              <a:off x="6908040" y="4439880"/>
              <a:ext cx="1806840" cy="1806840"/>
            </a:xfrm>
            <a:custGeom>
              <a:avLst/>
              <a:gdLst>
                <a:gd name="textAreaLeft" fmla="*/ 0 w 1806840"/>
                <a:gd name="textAreaRight" fmla="*/ 1807560 w 1806840"/>
                <a:gd name="textAreaTop" fmla="*/ 0 h 1806840"/>
                <a:gd name="textAreaBottom" fmla="*/ 1807560 h 1806840"/>
              </a:gdLst>
              <a:ahLst/>
              <a:cxnLst/>
              <a:rect l="textAreaLeft" t="textAreaTop" r="textAreaRight" b="textAreaBottom"/>
              <a:pathLst>
                <a:path w="2410108" h="2410108">
                  <a:moveTo>
                    <a:pt x="0" y="0"/>
                  </a:moveTo>
                  <a:lnTo>
                    <a:pt x="2410108" y="0"/>
                  </a:lnTo>
                  <a:lnTo>
                    <a:pt x="2410108" y="2410108"/>
                  </a:lnTo>
                  <a:lnTo>
                    <a:pt x="0" y="241010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TextBox 18"/>
            <p:cNvSpPr/>
            <p:nvPr/>
          </p:nvSpPr>
          <p:spPr>
            <a:xfrm>
              <a:off x="6704280" y="6410160"/>
              <a:ext cx="2214720" cy="70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2801"/>
                </a:lnSpc>
              </a:pPr>
              <a:r>
                <a:rPr b="1" lang="en-US" sz="2000" strike="noStrike" u="none">
                  <a:solidFill>
                    <a:srgbClr val="545454"/>
                  </a:solidFill>
                  <a:effectLst/>
                  <a:uFillTx/>
                  <a:latin typeface="Arial Bold"/>
                  <a:ea typeface="Arial Bold"/>
                </a:rPr>
                <a:t>Ruan Gustavo Soares da Silva</a:t>
              </a:r>
              <a:endPara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6" name=""/>
          <p:cNvGrpSpPr/>
          <p:nvPr/>
        </p:nvGrpSpPr>
        <p:grpSpPr>
          <a:xfrm>
            <a:off x="9452880" y="4439880"/>
            <a:ext cx="2103120" cy="2682000"/>
            <a:chOff x="9452880" y="4439880"/>
            <a:chExt cx="2103120" cy="2682000"/>
          </a:xfrm>
        </p:grpSpPr>
        <p:sp>
          <p:nvSpPr>
            <p:cNvPr id="77" name="Freeform 20"/>
            <p:cNvSpPr/>
            <p:nvPr/>
          </p:nvSpPr>
          <p:spPr>
            <a:xfrm>
              <a:off x="9596880" y="4439880"/>
              <a:ext cx="1806840" cy="1806840"/>
            </a:xfrm>
            <a:custGeom>
              <a:avLst/>
              <a:gdLst>
                <a:gd name="textAreaLeft" fmla="*/ 0 w 1806840"/>
                <a:gd name="textAreaRight" fmla="*/ 1807560 w 1806840"/>
                <a:gd name="textAreaTop" fmla="*/ 0 h 1806840"/>
                <a:gd name="textAreaBottom" fmla="*/ 1807560 h 1806840"/>
              </a:gdLst>
              <a:ahLst/>
              <a:cxnLst/>
              <a:rect l="textAreaLeft" t="textAreaTop" r="textAreaRight" b="textAreaBottom"/>
              <a:pathLst>
                <a:path w="2410108" h="2410108">
                  <a:moveTo>
                    <a:pt x="0" y="0"/>
                  </a:moveTo>
                  <a:lnTo>
                    <a:pt x="2410108" y="0"/>
                  </a:lnTo>
                  <a:lnTo>
                    <a:pt x="2410108" y="2410108"/>
                  </a:lnTo>
                  <a:lnTo>
                    <a:pt x="0" y="241010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TextBox 21"/>
            <p:cNvSpPr/>
            <p:nvPr/>
          </p:nvSpPr>
          <p:spPr>
            <a:xfrm>
              <a:off x="9452880" y="6410160"/>
              <a:ext cx="2103120" cy="71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2801"/>
                </a:lnSpc>
              </a:pPr>
              <a:r>
                <a:rPr b="1" lang="en-US" sz="2000" strike="noStrike" u="none">
                  <a:solidFill>
                    <a:srgbClr val="545454"/>
                  </a:solidFill>
                  <a:effectLst/>
                  <a:uFillTx/>
                  <a:latin typeface="Arial Bold"/>
                  <a:ea typeface="Arial Bold"/>
                </a:rPr>
                <a:t>Gabriel Pereira Goes</a:t>
              </a:r>
              <a:endPara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9" name="Group 22"/>
          <p:cNvGrpSpPr/>
          <p:nvPr/>
        </p:nvGrpSpPr>
        <p:grpSpPr>
          <a:xfrm>
            <a:off x="12080880" y="4439880"/>
            <a:ext cx="2302920" cy="3017880"/>
            <a:chOff x="12080880" y="4439880"/>
            <a:chExt cx="2302920" cy="3017880"/>
          </a:xfrm>
        </p:grpSpPr>
        <p:sp>
          <p:nvSpPr>
            <p:cNvPr id="80" name="Freeform 23"/>
            <p:cNvSpPr/>
            <p:nvPr/>
          </p:nvSpPr>
          <p:spPr>
            <a:xfrm>
              <a:off x="12321000" y="4439880"/>
              <a:ext cx="1822320" cy="1806840"/>
            </a:xfrm>
            <a:custGeom>
              <a:avLst/>
              <a:gdLst>
                <a:gd name="textAreaLeft" fmla="*/ 0 w 1822320"/>
                <a:gd name="textAreaRight" fmla="*/ 1823040 w 1822320"/>
                <a:gd name="textAreaTop" fmla="*/ 0 h 1806840"/>
                <a:gd name="textAreaBottom" fmla="*/ 1807560 h 1806840"/>
              </a:gdLst>
              <a:ahLst/>
              <a:cxnLst/>
              <a:rect l="textAreaLeft" t="textAreaTop" r="textAreaRight" b="textAreaBottom"/>
              <a:pathLst>
                <a:path w="2430839" h="2410108">
                  <a:moveTo>
                    <a:pt x="0" y="0"/>
                  </a:moveTo>
                  <a:lnTo>
                    <a:pt x="2430839" y="0"/>
                  </a:lnTo>
                  <a:lnTo>
                    <a:pt x="2430839" y="2410108"/>
                  </a:lnTo>
                  <a:lnTo>
                    <a:pt x="0" y="241010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TextBox 24"/>
            <p:cNvSpPr/>
            <p:nvPr/>
          </p:nvSpPr>
          <p:spPr>
            <a:xfrm>
              <a:off x="12080880" y="6387840"/>
              <a:ext cx="2302920" cy="1069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2801"/>
                </a:lnSpc>
              </a:pPr>
              <a:r>
                <a:rPr b="1" lang="en-US" sz="2000" strike="noStrike" u="none">
                  <a:solidFill>
                    <a:srgbClr val="545454"/>
                  </a:solidFill>
                  <a:effectLst/>
                  <a:uFillTx/>
                  <a:latin typeface="Arial Bold"/>
                  <a:ea typeface="Arial Bold"/>
                </a:rPr>
                <a:t>Matheus Diirr Aguiar Veiga de Souza</a:t>
              </a:r>
              <a:endPara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2" name="Freeform 25"/>
          <p:cNvSpPr/>
          <p:nvPr/>
        </p:nvSpPr>
        <p:spPr>
          <a:xfrm>
            <a:off x="249480" y="228600"/>
            <a:ext cx="1028160" cy="1028160"/>
          </a:xfrm>
          <a:custGeom>
            <a:avLst/>
            <a:gdLst>
              <a:gd name="textAreaLeft" fmla="*/ 0 w 1028160"/>
              <a:gd name="textAreaRight" fmla="*/ 1028880 w 1028160"/>
              <a:gd name="textAreaTop" fmla="*/ 0 h 1028160"/>
              <a:gd name="textAreaBottom" fmla="*/ 1028880 h 1028160"/>
            </a:gdLst>
            <a:ahLst/>
            <a:cxnLst/>
            <a:rect l="textAreaLeft" t="textAreaTop" r="textAreaRight" b="textAreaBottom"/>
            <a:pathLst>
              <a:path w="1029030" h="1029030">
                <a:moveTo>
                  <a:pt x="0" y="0"/>
                </a:moveTo>
                <a:lnTo>
                  <a:pt x="1029031" y="0"/>
                </a:lnTo>
                <a:lnTo>
                  <a:pt x="1029031" y="1029030"/>
                </a:lnTo>
                <a:lnTo>
                  <a:pt x="0" y="10290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26"/>
          <p:cNvSpPr/>
          <p:nvPr/>
        </p:nvSpPr>
        <p:spPr>
          <a:xfrm>
            <a:off x="3130200" y="2952000"/>
            <a:ext cx="1180944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201"/>
              </a:lnSpc>
            </a:pPr>
            <a:r>
              <a:rPr b="1" lang="en-US" sz="3000" strike="noStrike" u="none">
                <a:solidFill>
                  <a:srgbClr val="545454"/>
                </a:solidFill>
                <a:effectLst/>
                <a:uFillTx/>
                <a:latin typeface="Arial Bold"/>
                <a:ea typeface="Arial Bold"/>
              </a:rPr>
              <a:t>Avaliação de produto 2 - DuckDB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27"/>
          <p:cNvSpPr/>
          <p:nvPr/>
        </p:nvSpPr>
        <p:spPr>
          <a:xfrm>
            <a:off x="1980000" y="2241360"/>
            <a:ext cx="1469700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trike="noStrike" u="none">
                <a:solidFill>
                  <a:srgbClr val="545454"/>
                </a:solidFill>
                <a:effectLst/>
                <a:uFillTx/>
                <a:latin typeface="Arial Bold"/>
                <a:ea typeface="Arial Bold"/>
              </a:rPr>
              <a:t>Projeto de Análise e Fluxo de Dados - OLAP e ETL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28"/>
          <p:cNvSpPr/>
          <p:nvPr/>
        </p:nvSpPr>
        <p:spPr>
          <a:xfrm>
            <a:off x="15197040" y="6871680"/>
            <a:ext cx="1921320" cy="88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501"/>
              </a:lnSpc>
            </a:pPr>
            <a:r>
              <a:rPr b="1" lang="en-US" sz="2200" strike="noStrike" u="none">
                <a:solidFill>
                  <a:srgbClr val="545454"/>
                </a:solidFill>
                <a:effectLst/>
                <a:uFillTx/>
                <a:latin typeface="Open Sans Bold"/>
                <a:ea typeface="Open Sans Bold"/>
              </a:rPr>
              <a:t>O Squad-10 é insano!!!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29"/>
          <p:cNvSpPr/>
          <p:nvPr/>
        </p:nvSpPr>
        <p:spPr>
          <a:xfrm>
            <a:off x="2815200" y="3727800"/>
            <a:ext cx="3664440" cy="39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081"/>
              </a:lnSpc>
            </a:pPr>
            <a:r>
              <a:rPr b="1" lang="en-US" sz="2200" strike="noStrike" u="none">
                <a:solidFill>
                  <a:srgbClr val="545454"/>
                </a:solidFill>
                <a:effectLst/>
                <a:uFillTx/>
                <a:latin typeface="Arial Bold"/>
                <a:ea typeface="Arial Bold"/>
              </a:rPr>
              <a:t>Membros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1b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2"/>
          <p:cNvGrpSpPr/>
          <p:nvPr/>
        </p:nvGrpSpPr>
        <p:grpSpPr>
          <a:xfrm>
            <a:off x="9144000" y="-144720"/>
            <a:ext cx="9143280" cy="272520"/>
            <a:chOff x="9144000" y="-144720"/>
            <a:chExt cx="9143280" cy="272520"/>
          </a:xfrm>
        </p:grpSpPr>
        <p:sp>
          <p:nvSpPr>
            <p:cNvPr id="88" name="Freeform 3"/>
            <p:cNvSpPr/>
            <p:nvPr/>
          </p:nvSpPr>
          <p:spPr>
            <a:xfrm>
              <a:off x="9144000" y="0"/>
              <a:ext cx="9143280" cy="127800"/>
            </a:xfrm>
            <a:custGeom>
              <a:avLst/>
              <a:gdLst>
                <a:gd name="textAreaLeft" fmla="*/ 0 w 9143280"/>
                <a:gd name="textAreaRight" fmla="*/ 9144000 w 9143280"/>
                <a:gd name="textAreaTop" fmla="*/ 0 h 127800"/>
                <a:gd name="textAreaBottom" fmla="*/ 128520 h 127800"/>
              </a:gdLst>
              <a:ahLst/>
              <a:cxnLst/>
              <a:rect l="textAreaLeft" t="textAreaTop" r="textAreaRight" b="textAreaBottom"/>
              <a:pathLst>
                <a:path w="2408296" h="33854">
                  <a:moveTo>
                    <a:pt x="0" y="0"/>
                  </a:moveTo>
                  <a:lnTo>
                    <a:pt x="2408296" y="0"/>
                  </a:lnTo>
                  <a:lnTo>
                    <a:pt x="2408296" y="33854"/>
                  </a:lnTo>
                  <a:lnTo>
                    <a:pt x="0" y="33854"/>
                  </a:lnTo>
                  <a:close/>
                </a:path>
              </a:pathLst>
            </a:custGeom>
            <a:solidFill>
              <a:srgbClr val="8f845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TextBox 4"/>
            <p:cNvSpPr/>
            <p:nvPr/>
          </p:nvSpPr>
          <p:spPr>
            <a:xfrm>
              <a:off x="9144000" y="-144720"/>
              <a:ext cx="914328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90" name="Group 5"/>
          <p:cNvGrpSpPr/>
          <p:nvPr/>
        </p:nvGrpSpPr>
        <p:grpSpPr>
          <a:xfrm>
            <a:off x="0" y="10013760"/>
            <a:ext cx="9143280" cy="272520"/>
            <a:chOff x="0" y="10013760"/>
            <a:chExt cx="9143280" cy="272520"/>
          </a:xfrm>
        </p:grpSpPr>
        <p:sp>
          <p:nvSpPr>
            <p:cNvPr id="91" name="Freeform 6"/>
            <p:cNvSpPr/>
            <p:nvPr/>
          </p:nvSpPr>
          <p:spPr>
            <a:xfrm>
              <a:off x="0" y="10158480"/>
              <a:ext cx="9143280" cy="127800"/>
            </a:xfrm>
            <a:custGeom>
              <a:avLst/>
              <a:gdLst>
                <a:gd name="textAreaLeft" fmla="*/ 0 w 9143280"/>
                <a:gd name="textAreaRight" fmla="*/ 9144000 w 9143280"/>
                <a:gd name="textAreaTop" fmla="*/ 0 h 127800"/>
                <a:gd name="textAreaBottom" fmla="*/ 128520 h 127800"/>
              </a:gdLst>
              <a:ahLst/>
              <a:cxnLst/>
              <a:rect l="textAreaLeft" t="textAreaTop" r="textAreaRight" b="textAreaBottom"/>
              <a:pathLst>
                <a:path w="2408296" h="33854">
                  <a:moveTo>
                    <a:pt x="0" y="0"/>
                  </a:moveTo>
                  <a:lnTo>
                    <a:pt x="2408296" y="0"/>
                  </a:lnTo>
                  <a:lnTo>
                    <a:pt x="2408296" y="33854"/>
                  </a:lnTo>
                  <a:lnTo>
                    <a:pt x="0" y="33854"/>
                  </a:lnTo>
                  <a:close/>
                </a:path>
              </a:pathLst>
            </a:custGeom>
            <a:solidFill>
              <a:srgbClr val="8f845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TextBox 7"/>
            <p:cNvSpPr/>
            <p:nvPr/>
          </p:nvSpPr>
          <p:spPr>
            <a:xfrm>
              <a:off x="0" y="10013760"/>
              <a:ext cx="914328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93" name="Freeform 8"/>
          <p:cNvSpPr/>
          <p:nvPr/>
        </p:nvSpPr>
        <p:spPr>
          <a:xfrm>
            <a:off x="17430840" y="9302760"/>
            <a:ext cx="658080" cy="855000"/>
          </a:xfrm>
          <a:custGeom>
            <a:avLst/>
            <a:gdLst>
              <a:gd name="textAreaLeft" fmla="*/ 0 w 658080"/>
              <a:gd name="textAreaRight" fmla="*/ 658800 w 658080"/>
              <a:gd name="textAreaTop" fmla="*/ 0 h 855000"/>
              <a:gd name="textAreaBottom" fmla="*/ 855720 h 855000"/>
            </a:gdLst>
            <a:ahLst/>
            <a:cxnLst/>
            <a:rect l="textAreaLeft" t="textAreaTop" r="textAreaRight" b="textAreaBottom"/>
            <a:pathLst>
              <a:path w="658916" h="855736">
                <a:moveTo>
                  <a:pt x="0" y="0"/>
                </a:moveTo>
                <a:lnTo>
                  <a:pt x="658916" y="0"/>
                </a:lnTo>
                <a:lnTo>
                  <a:pt x="658916" y="855735"/>
                </a:lnTo>
                <a:lnTo>
                  <a:pt x="0" y="85573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Freeform 9"/>
          <p:cNvSpPr/>
          <p:nvPr/>
        </p:nvSpPr>
        <p:spPr>
          <a:xfrm>
            <a:off x="12850920" y="2646360"/>
            <a:ext cx="3542760" cy="3365280"/>
          </a:xfrm>
          <a:custGeom>
            <a:avLst/>
            <a:gdLst>
              <a:gd name="textAreaLeft" fmla="*/ 0 w 3542760"/>
              <a:gd name="textAreaRight" fmla="*/ 3543480 w 3542760"/>
              <a:gd name="textAreaTop" fmla="*/ 0 h 3365280"/>
              <a:gd name="textAreaBottom" fmla="*/ 3366000 h 3365280"/>
            </a:gdLst>
            <a:ahLst/>
            <a:cxnLst/>
            <a:rect l="textAreaLeft" t="textAreaTop" r="textAreaRight" b="textAreaBottom"/>
            <a:pathLst>
              <a:path w="3543300" h="3366135">
                <a:moveTo>
                  <a:pt x="0" y="0"/>
                </a:moveTo>
                <a:lnTo>
                  <a:pt x="3543300" y="0"/>
                </a:lnTo>
                <a:lnTo>
                  <a:pt x="3543300" y="3366135"/>
                </a:lnTo>
                <a:lnTo>
                  <a:pt x="0" y="336613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10"/>
          <p:cNvSpPr/>
          <p:nvPr/>
        </p:nvSpPr>
        <p:spPr>
          <a:xfrm>
            <a:off x="3240000" y="1260000"/>
            <a:ext cx="1148400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trike="noStrike" u="none">
                <a:solidFill>
                  <a:srgbClr val="545454"/>
                </a:solidFill>
                <a:effectLst/>
                <a:uFillTx/>
                <a:latin typeface="Arial Bold"/>
                <a:ea typeface="Arial Bold"/>
              </a:rPr>
              <a:t>O que é o DuckDB?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11"/>
          <p:cNvSpPr/>
          <p:nvPr/>
        </p:nvSpPr>
        <p:spPr>
          <a:xfrm>
            <a:off x="2565000" y="2805840"/>
            <a:ext cx="9791280" cy="423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734040" indent="-367200" defTabSz="914400">
              <a:lnSpc>
                <a:spcPts val="4759"/>
              </a:lnSpc>
              <a:buClr>
                <a:srgbClr val="545454"/>
              </a:buClr>
              <a:buFont typeface="Arial"/>
              <a:buChar char="•"/>
            </a:pPr>
            <a:r>
              <a:rPr b="0" lang="en-US" sz="3400" strike="noStrike" u="none">
                <a:solidFill>
                  <a:srgbClr val="545454"/>
                </a:solidFill>
                <a:effectLst/>
                <a:uFillTx/>
                <a:latin typeface="Open Sans"/>
                <a:ea typeface="Open Sans"/>
              </a:rPr>
              <a:t>Banco de dados embarcado;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34040" indent="-367200" defTabSz="914400">
              <a:lnSpc>
                <a:spcPts val="4759"/>
              </a:lnSpc>
              <a:buClr>
                <a:srgbClr val="545454"/>
              </a:buClr>
              <a:buFont typeface="Arial"/>
              <a:buChar char="•"/>
            </a:pPr>
            <a:r>
              <a:rPr b="0" lang="en-US" sz="3400" strike="noStrike" u="none">
                <a:solidFill>
                  <a:srgbClr val="545454"/>
                </a:solidFill>
                <a:effectLst/>
                <a:uFillTx/>
                <a:latin typeface="Open Sans"/>
                <a:ea typeface="Open Sans"/>
              </a:rPr>
              <a:t>Similar ao Sqlite em certas particularidades;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34040" indent="-367200" defTabSz="914400">
              <a:lnSpc>
                <a:spcPts val="4759"/>
              </a:lnSpc>
              <a:buClr>
                <a:srgbClr val="545454"/>
              </a:buClr>
              <a:buFont typeface="Arial"/>
              <a:buChar char="•"/>
            </a:pPr>
            <a:r>
              <a:rPr b="0" lang="en-US" sz="3400" strike="noStrike" u="none">
                <a:solidFill>
                  <a:srgbClr val="545454"/>
                </a:solidFill>
                <a:effectLst/>
                <a:uFillTx/>
                <a:latin typeface="Open Sans"/>
                <a:ea typeface="Open Sans"/>
              </a:rPr>
              <a:t>Olap (Online Analytical Processing);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34040" indent="-367200" defTabSz="914400">
              <a:lnSpc>
                <a:spcPts val="4759"/>
              </a:lnSpc>
              <a:buClr>
                <a:srgbClr val="545454"/>
              </a:buClr>
              <a:buFont typeface="Arial"/>
              <a:buChar char="•"/>
            </a:pPr>
            <a:r>
              <a:rPr b="0" lang="en-US" sz="3400" strike="noStrike" u="none">
                <a:solidFill>
                  <a:srgbClr val="545454"/>
                </a:solidFill>
                <a:effectLst/>
                <a:uFillTx/>
                <a:latin typeface="Open Sans"/>
                <a:ea typeface="Open Sans"/>
              </a:rPr>
              <a:t>Interação com múltiplos tipos de arquivos;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34040" indent="-367200" defTabSz="914400">
              <a:lnSpc>
                <a:spcPts val="4759"/>
              </a:lnSpc>
              <a:buClr>
                <a:srgbClr val="545454"/>
              </a:buClr>
              <a:buFont typeface="Arial"/>
              <a:buChar char="•"/>
            </a:pPr>
            <a:r>
              <a:rPr b="0" lang="en-US" sz="3400" strike="noStrike" u="none">
                <a:solidFill>
                  <a:srgbClr val="545454"/>
                </a:solidFill>
                <a:effectLst/>
                <a:uFillTx/>
                <a:latin typeface="Open Sans"/>
                <a:ea typeface="Open Sans"/>
              </a:rPr>
              <a:t>Possui um ecossistema legal.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1b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2"/>
          <p:cNvGrpSpPr/>
          <p:nvPr/>
        </p:nvGrpSpPr>
        <p:grpSpPr>
          <a:xfrm>
            <a:off x="9144000" y="-144720"/>
            <a:ext cx="9143280" cy="272520"/>
            <a:chOff x="9144000" y="-144720"/>
            <a:chExt cx="9143280" cy="272520"/>
          </a:xfrm>
        </p:grpSpPr>
        <p:sp>
          <p:nvSpPr>
            <p:cNvPr id="98" name="Freeform 3"/>
            <p:cNvSpPr/>
            <p:nvPr/>
          </p:nvSpPr>
          <p:spPr>
            <a:xfrm>
              <a:off x="9144000" y="0"/>
              <a:ext cx="9143280" cy="127800"/>
            </a:xfrm>
            <a:custGeom>
              <a:avLst/>
              <a:gdLst>
                <a:gd name="textAreaLeft" fmla="*/ 0 w 9143280"/>
                <a:gd name="textAreaRight" fmla="*/ 9144000 w 9143280"/>
                <a:gd name="textAreaTop" fmla="*/ 0 h 127800"/>
                <a:gd name="textAreaBottom" fmla="*/ 128520 h 127800"/>
              </a:gdLst>
              <a:ahLst/>
              <a:cxnLst/>
              <a:rect l="textAreaLeft" t="textAreaTop" r="textAreaRight" b="textAreaBottom"/>
              <a:pathLst>
                <a:path w="2408296" h="33854">
                  <a:moveTo>
                    <a:pt x="0" y="0"/>
                  </a:moveTo>
                  <a:lnTo>
                    <a:pt x="2408296" y="0"/>
                  </a:lnTo>
                  <a:lnTo>
                    <a:pt x="2408296" y="33854"/>
                  </a:lnTo>
                  <a:lnTo>
                    <a:pt x="0" y="33854"/>
                  </a:lnTo>
                  <a:close/>
                </a:path>
              </a:pathLst>
            </a:custGeom>
            <a:solidFill>
              <a:srgbClr val="8f845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TextBox 4"/>
            <p:cNvSpPr/>
            <p:nvPr/>
          </p:nvSpPr>
          <p:spPr>
            <a:xfrm>
              <a:off x="9144000" y="-144720"/>
              <a:ext cx="914328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00" name="Group 5"/>
          <p:cNvGrpSpPr/>
          <p:nvPr/>
        </p:nvGrpSpPr>
        <p:grpSpPr>
          <a:xfrm>
            <a:off x="0" y="10013760"/>
            <a:ext cx="9143280" cy="272520"/>
            <a:chOff x="0" y="10013760"/>
            <a:chExt cx="9143280" cy="272520"/>
          </a:xfrm>
        </p:grpSpPr>
        <p:sp>
          <p:nvSpPr>
            <p:cNvPr id="101" name="Freeform 6"/>
            <p:cNvSpPr/>
            <p:nvPr/>
          </p:nvSpPr>
          <p:spPr>
            <a:xfrm>
              <a:off x="0" y="10158480"/>
              <a:ext cx="9143280" cy="127800"/>
            </a:xfrm>
            <a:custGeom>
              <a:avLst/>
              <a:gdLst>
                <a:gd name="textAreaLeft" fmla="*/ 0 w 9143280"/>
                <a:gd name="textAreaRight" fmla="*/ 9144000 w 9143280"/>
                <a:gd name="textAreaTop" fmla="*/ 0 h 127800"/>
                <a:gd name="textAreaBottom" fmla="*/ 128520 h 127800"/>
              </a:gdLst>
              <a:ahLst/>
              <a:cxnLst/>
              <a:rect l="textAreaLeft" t="textAreaTop" r="textAreaRight" b="textAreaBottom"/>
              <a:pathLst>
                <a:path w="2408296" h="33854">
                  <a:moveTo>
                    <a:pt x="0" y="0"/>
                  </a:moveTo>
                  <a:lnTo>
                    <a:pt x="2408296" y="0"/>
                  </a:lnTo>
                  <a:lnTo>
                    <a:pt x="2408296" y="33854"/>
                  </a:lnTo>
                  <a:lnTo>
                    <a:pt x="0" y="33854"/>
                  </a:lnTo>
                  <a:close/>
                </a:path>
              </a:pathLst>
            </a:custGeom>
            <a:solidFill>
              <a:srgbClr val="8f845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TextBox 7"/>
            <p:cNvSpPr/>
            <p:nvPr/>
          </p:nvSpPr>
          <p:spPr>
            <a:xfrm>
              <a:off x="0" y="10013760"/>
              <a:ext cx="914328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03" name="TextBox 8"/>
          <p:cNvSpPr/>
          <p:nvPr/>
        </p:nvSpPr>
        <p:spPr>
          <a:xfrm>
            <a:off x="3960000" y="1089360"/>
            <a:ext cx="1039572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trike="noStrike" u="none">
                <a:solidFill>
                  <a:srgbClr val="545454"/>
                </a:solidFill>
                <a:effectLst/>
                <a:uFillTx/>
                <a:latin typeface="Arial Bold"/>
                <a:ea typeface="Arial Bold"/>
              </a:rPr>
              <a:t>Linha do tempo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Freeform 10"/>
          <p:cNvSpPr/>
          <p:nvPr/>
        </p:nvSpPr>
        <p:spPr>
          <a:xfrm>
            <a:off x="1218960" y="3951720"/>
            <a:ext cx="1176840" cy="1176840"/>
          </a:xfrm>
          <a:custGeom>
            <a:avLst/>
            <a:gdLst>
              <a:gd name="textAreaLeft" fmla="*/ 0 w 1176840"/>
              <a:gd name="textAreaRight" fmla="*/ 1177560 w 1176840"/>
              <a:gd name="textAreaTop" fmla="*/ 0 h 1176840"/>
              <a:gd name="textAreaBottom" fmla="*/ 1177560 h 1176840"/>
            </a:gdLst>
            <a:ahLst/>
            <a:cxnLst/>
            <a:rect l="textAreaLeft" t="textAreaTop" r="textAreaRight" b="textAreaBottom"/>
            <a:pathLst>
              <a:path w="1570149" h="1570149">
                <a:moveTo>
                  <a:pt x="0" y="0"/>
                </a:moveTo>
                <a:lnTo>
                  <a:pt x="1570149" y="0"/>
                </a:lnTo>
                <a:lnTo>
                  <a:pt x="1570149" y="1570149"/>
                </a:lnTo>
                <a:lnTo>
                  <a:pt x="0" y="157014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11"/>
          <p:cNvSpPr/>
          <p:nvPr/>
        </p:nvSpPr>
        <p:spPr>
          <a:xfrm>
            <a:off x="707400" y="4980600"/>
            <a:ext cx="2199960" cy="9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475"/>
              </a:lnSpc>
            </a:pPr>
            <a:r>
              <a:rPr b="1" lang="en-US" sz="1770" strike="noStrike" u="none">
                <a:solidFill>
                  <a:srgbClr val="545454"/>
                </a:solidFill>
                <a:effectLst/>
                <a:uFillTx/>
                <a:latin typeface="Arial Bold"/>
                <a:ea typeface="Arial Bold"/>
              </a:rPr>
              <a:t>Nascimento do projeto e pesquisa</a:t>
            </a:r>
            <a:endParaRPr b="0" lang="pt-BR" sz="17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12"/>
          <p:cNvSpPr/>
          <p:nvPr/>
        </p:nvSpPr>
        <p:spPr>
          <a:xfrm>
            <a:off x="1027800" y="6618240"/>
            <a:ext cx="1456200" cy="3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095"/>
              </a:lnSpc>
            </a:pPr>
            <a:r>
              <a:rPr b="1" lang="en-US" sz="2210" strike="noStrike" u="none">
                <a:solidFill>
                  <a:srgbClr val="545454"/>
                </a:solidFill>
                <a:effectLst/>
                <a:uFillTx/>
                <a:latin typeface="Arial Bold"/>
                <a:ea typeface="Arial Bold"/>
              </a:rPr>
              <a:t>2018</a:t>
            </a:r>
            <a:endParaRPr b="0" lang="pt-BR" sz="22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Freeform 13"/>
          <p:cNvSpPr/>
          <p:nvPr/>
        </p:nvSpPr>
        <p:spPr>
          <a:xfrm>
            <a:off x="4410000" y="3898800"/>
            <a:ext cx="720000" cy="1116720"/>
          </a:xfrm>
          <a:custGeom>
            <a:avLst/>
            <a:gdLst>
              <a:gd name="textAreaLeft" fmla="*/ 0 w 720000"/>
              <a:gd name="textAreaRight" fmla="*/ 720720 w 720000"/>
              <a:gd name="textAreaTop" fmla="*/ 0 h 1116720"/>
              <a:gd name="textAreaBottom" fmla="*/ 1117440 h 1116720"/>
            </a:gdLst>
            <a:ahLst/>
            <a:cxnLst/>
            <a:rect l="textAreaLeft" t="textAreaTop" r="textAreaRight" b="textAreaBottom"/>
            <a:pathLst>
              <a:path w="961013" h="1489942">
                <a:moveTo>
                  <a:pt x="0" y="0"/>
                </a:moveTo>
                <a:lnTo>
                  <a:pt x="961013" y="0"/>
                </a:lnTo>
                <a:lnTo>
                  <a:pt x="961013" y="1489943"/>
                </a:lnTo>
                <a:lnTo>
                  <a:pt x="0" y="148994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14"/>
          <p:cNvSpPr/>
          <p:nvPr/>
        </p:nvSpPr>
        <p:spPr>
          <a:xfrm>
            <a:off x="3387960" y="4980600"/>
            <a:ext cx="2764800" cy="9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475"/>
              </a:lnSpc>
            </a:pPr>
            <a:r>
              <a:rPr b="1" lang="en-US" sz="1770" strike="noStrike" u="none">
                <a:solidFill>
                  <a:srgbClr val="545454"/>
                </a:solidFill>
                <a:effectLst/>
                <a:uFillTx/>
                <a:latin typeface="Arial Bold"/>
                <a:ea typeface="Arial Bold"/>
              </a:rPr>
              <a:t>Lançamento Open Source e Primeiro Paper</a:t>
            </a:r>
            <a:endParaRPr b="0" lang="pt-BR" sz="17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15"/>
          <p:cNvSpPr/>
          <p:nvPr/>
        </p:nvSpPr>
        <p:spPr>
          <a:xfrm>
            <a:off x="4098600" y="6618240"/>
            <a:ext cx="1193400" cy="3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095"/>
              </a:lnSpc>
            </a:pPr>
            <a:r>
              <a:rPr b="1" lang="en-US" sz="2210" strike="noStrike" u="none">
                <a:solidFill>
                  <a:srgbClr val="545454"/>
                </a:solidFill>
                <a:effectLst/>
                <a:uFillTx/>
                <a:latin typeface="Arial Bold"/>
                <a:ea typeface="Arial Bold"/>
              </a:rPr>
              <a:t>2019</a:t>
            </a:r>
            <a:endParaRPr b="0" lang="pt-BR" sz="22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Freeform 16"/>
          <p:cNvSpPr/>
          <p:nvPr/>
        </p:nvSpPr>
        <p:spPr>
          <a:xfrm>
            <a:off x="7091640" y="3723480"/>
            <a:ext cx="992520" cy="1323720"/>
          </a:xfrm>
          <a:custGeom>
            <a:avLst/>
            <a:gdLst>
              <a:gd name="textAreaLeft" fmla="*/ 0 w 992520"/>
              <a:gd name="textAreaRight" fmla="*/ 993240 w 992520"/>
              <a:gd name="textAreaTop" fmla="*/ 0 h 1323720"/>
              <a:gd name="textAreaBottom" fmla="*/ 1324440 h 1323720"/>
            </a:gdLst>
            <a:ahLst/>
            <a:cxnLst/>
            <a:rect l="textAreaLeft" t="textAreaTop" r="textAreaRight" b="textAreaBottom"/>
            <a:pathLst>
              <a:path w="1324431" h="1765909">
                <a:moveTo>
                  <a:pt x="0" y="0"/>
                </a:moveTo>
                <a:lnTo>
                  <a:pt x="1324432" y="0"/>
                </a:lnTo>
                <a:lnTo>
                  <a:pt x="1324432" y="1765909"/>
                </a:lnTo>
                <a:lnTo>
                  <a:pt x="0" y="176590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17"/>
          <p:cNvSpPr/>
          <p:nvPr/>
        </p:nvSpPr>
        <p:spPr>
          <a:xfrm>
            <a:off x="6800760" y="5012280"/>
            <a:ext cx="1573920" cy="9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475"/>
              </a:lnSpc>
            </a:pPr>
            <a:r>
              <a:rPr b="1" lang="en-US" sz="1770" strike="noStrike" u="none">
                <a:solidFill>
                  <a:srgbClr val="545454"/>
                </a:solidFill>
                <a:effectLst/>
                <a:uFillTx/>
                <a:latin typeface="Arial Bold"/>
                <a:ea typeface="Arial Bold"/>
              </a:rPr>
              <a:t>Fundação da DuckDB Labs</a:t>
            </a:r>
            <a:endParaRPr b="0" lang="pt-BR" sz="17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18"/>
          <p:cNvSpPr/>
          <p:nvPr/>
        </p:nvSpPr>
        <p:spPr>
          <a:xfrm>
            <a:off x="6988320" y="6618240"/>
            <a:ext cx="1075680" cy="3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095"/>
              </a:lnSpc>
            </a:pPr>
            <a:r>
              <a:rPr b="1" lang="en-US" sz="2210" strike="noStrike" u="none">
                <a:solidFill>
                  <a:srgbClr val="545454"/>
                </a:solidFill>
                <a:effectLst/>
                <a:uFillTx/>
                <a:latin typeface="Arial Bold"/>
                <a:ea typeface="Arial Bold"/>
              </a:rPr>
              <a:t>2021</a:t>
            </a:r>
            <a:endParaRPr b="0" lang="pt-BR" sz="22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Freeform 19"/>
          <p:cNvSpPr/>
          <p:nvPr/>
        </p:nvSpPr>
        <p:spPr>
          <a:xfrm>
            <a:off x="9463680" y="3457440"/>
            <a:ext cx="1499760" cy="1570680"/>
          </a:xfrm>
          <a:custGeom>
            <a:avLst/>
            <a:gdLst>
              <a:gd name="textAreaLeft" fmla="*/ 0 w 1499760"/>
              <a:gd name="textAreaRight" fmla="*/ 1500480 w 1499760"/>
              <a:gd name="textAreaTop" fmla="*/ 0 h 1570680"/>
              <a:gd name="textAreaBottom" fmla="*/ 1571400 h 1570680"/>
            </a:gdLst>
            <a:ahLst/>
            <a:cxnLst/>
            <a:rect l="textAreaLeft" t="textAreaTop" r="textAreaRight" b="textAreaBottom"/>
            <a:pathLst>
              <a:path w="2000867" h="2095149">
                <a:moveTo>
                  <a:pt x="0" y="0"/>
                </a:moveTo>
                <a:lnTo>
                  <a:pt x="2000867" y="0"/>
                </a:lnTo>
                <a:lnTo>
                  <a:pt x="2000867" y="2095149"/>
                </a:lnTo>
                <a:lnTo>
                  <a:pt x="0" y="209514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20"/>
          <p:cNvSpPr/>
          <p:nvPr/>
        </p:nvSpPr>
        <p:spPr>
          <a:xfrm>
            <a:off x="9027720" y="5012280"/>
            <a:ext cx="2372040" cy="9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475"/>
              </a:lnSpc>
            </a:pPr>
            <a:r>
              <a:rPr b="1" lang="en-US" sz="1770" strike="noStrike" u="none">
                <a:solidFill>
                  <a:srgbClr val="545454"/>
                </a:solidFill>
                <a:effectLst/>
                <a:uFillTx/>
                <a:latin typeface="Arial Bold"/>
                <a:ea typeface="Arial Bold"/>
              </a:rPr>
              <a:t>Expansão Comercial e MotherDuck</a:t>
            </a:r>
            <a:endParaRPr b="0" lang="pt-BR" sz="17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21"/>
          <p:cNvSpPr/>
          <p:nvPr/>
        </p:nvSpPr>
        <p:spPr>
          <a:xfrm>
            <a:off x="9542160" y="6618240"/>
            <a:ext cx="1329840" cy="3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095"/>
              </a:lnSpc>
            </a:pPr>
            <a:r>
              <a:rPr b="1" lang="en-US" sz="2210" strike="noStrike" u="none">
                <a:solidFill>
                  <a:srgbClr val="545454"/>
                </a:solidFill>
                <a:effectLst/>
                <a:uFillTx/>
                <a:latin typeface="Arial Bold"/>
                <a:ea typeface="Arial Bold"/>
              </a:rPr>
              <a:t>2022</a:t>
            </a:r>
            <a:endParaRPr b="0" lang="pt-BR" sz="22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Freeform 22"/>
          <p:cNvSpPr/>
          <p:nvPr/>
        </p:nvSpPr>
        <p:spPr>
          <a:xfrm>
            <a:off x="11892960" y="3185280"/>
            <a:ext cx="2004120" cy="1793520"/>
          </a:xfrm>
          <a:custGeom>
            <a:avLst/>
            <a:gdLst>
              <a:gd name="textAreaLeft" fmla="*/ 0 w 2004120"/>
              <a:gd name="textAreaRight" fmla="*/ 2004840 w 2004120"/>
              <a:gd name="textAreaTop" fmla="*/ 0 h 1793520"/>
              <a:gd name="textAreaBottom" fmla="*/ 1794240 h 1793520"/>
            </a:gdLst>
            <a:ahLst/>
            <a:cxnLst/>
            <a:rect l="textAreaLeft" t="textAreaTop" r="textAreaRight" b="textAreaBottom"/>
            <a:pathLst>
              <a:path w="2672997" h="2392332">
                <a:moveTo>
                  <a:pt x="0" y="0"/>
                </a:moveTo>
                <a:lnTo>
                  <a:pt x="2672997" y="0"/>
                </a:lnTo>
                <a:lnTo>
                  <a:pt x="2672997" y="2392333"/>
                </a:lnTo>
                <a:lnTo>
                  <a:pt x="0" y="239233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23"/>
          <p:cNvSpPr/>
          <p:nvPr/>
        </p:nvSpPr>
        <p:spPr>
          <a:xfrm>
            <a:off x="11817000" y="5005080"/>
            <a:ext cx="21560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520"/>
              </a:lnSpc>
            </a:pPr>
            <a:r>
              <a:rPr b="1" lang="en-US" sz="1800" strike="noStrike" u="none">
                <a:solidFill>
                  <a:srgbClr val="545454"/>
                </a:solidFill>
                <a:effectLst/>
                <a:uFillTx/>
                <a:latin typeface="Arial Bold"/>
                <a:ea typeface="Arial Bold"/>
              </a:rPr>
              <a:t>Forte adesão do público e expansão do ecossistema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24"/>
          <p:cNvSpPr/>
          <p:nvPr/>
        </p:nvSpPr>
        <p:spPr>
          <a:xfrm>
            <a:off x="12187440" y="6618240"/>
            <a:ext cx="1348560" cy="3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095"/>
              </a:lnSpc>
            </a:pPr>
            <a:r>
              <a:rPr b="1" lang="en-US" sz="2210" strike="noStrike" u="none">
                <a:solidFill>
                  <a:srgbClr val="545454"/>
                </a:solidFill>
                <a:effectLst/>
                <a:uFillTx/>
                <a:latin typeface="Arial Bold"/>
                <a:ea typeface="Arial Bold"/>
              </a:rPr>
              <a:t>2023</a:t>
            </a:r>
            <a:endParaRPr b="0" lang="pt-BR" sz="22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Freeform 25"/>
          <p:cNvSpPr/>
          <p:nvPr/>
        </p:nvSpPr>
        <p:spPr>
          <a:xfrm>
            <a:off x="14179680" y="895320"/>
            <a:ext cx="4107600" cy="5758200"/>
          </a:xfrm>
          <a:custGeom>
            <a:avLst/>
            <a:gdLst>
              <a:gd name="textAreaLeft" fmla="*/ 0 w 4107600"/>
              <a:gd name="textAreaRight" fmla="*/ 4108320 w 4107600"/>
              <a:gd name="textAreaTop" fmla="*/ 0 h 5758200"/>
              <a:gd name="textAreaBottom" fmla="*/ 5758920 h 5758200"/>
            </a:gdLst>
            <a:ahLst/>
            <a:cxnLst/>
            <a:rect l="textAreaLeft" t="textAreaTop" r="textAreaRight" b="textAreaBottom"/>
            <a:pathLst>
              <a:path w="5477852" h="7678357">
                <a:moveTo>
                  <a:pt x="0" y="0"/>
                </a:moveTo>
                <a:lnTo>
                  <a:pt x="5477852" y="0"/>
                </a:lnTo>
                <a:lnTo>
                  <a:pt x="5477852" y="7678357"/>
                </a:lnTo>
                <a:lnTo>
                  <a:pt x="0" y="767835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26"/>
          <p:cNvSpPr/>
          <p:nvPr/>
        </p:nvSpPr>
        <p:spPr>
          <a:xfrm>
            <a:off x="14894280" y="5093640"/>
            <a:ext cx="2678400" cy="10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801"/>
              </a:lnSpc>
            </a:pPr>
            <a:r>
              <a:rPr b="1" lang="en-US" sz="2000" strike="noStrike" u="none">
                <a:solidFill>
                  <a:srgbClr val="545454"/>
                </a:solidFill>
                <a:effectLst/>
                <a:uFillTx/>
                <a:latin typeface="Arial Bold"/>
                <a:ea typeface="Arial Bold"/>
              </a:rPr>
              <a:t>DuckDB 1.0.0 (Marco de Estabilidade)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27"/>
          <p:cNvSpPr/>
          <p:nvPr/>
        </p:nvSpPr>
        <p:spPr>
          <a:xfrm>
            <a:off x="15696000" y="6618240"/>
            <a:ext cx="115200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801"/>
              </a:lnSpc>
            </a:pPr>
            <a:r>
              <a:rPr b="1" lang="en-US" sz="2000" strike="noStrike" u="none">
                <a:solidFill>
                  <a:srgbClr val="545454"/>
                </a:solidFill>
                <a:effectLst/>
                <a:uFillTx/>
                <a:latin typeface="Arial Bold"/>
                <a:ea typeface="Arial Bold"/>
              </a:rPr>
              <a:t>2024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AutoShape 28"/>
          <p:cNvSpPr/>
          <p:nvPr/>
        </p:nvSpPr>
        <p:spPr>
          <a:xfrm>
            <a:off x="777240" y="6480720"/>
            <a:ext cx="16781760" cy="9360"/>
          </a:xfrm>
          <a:prstGeom prst="line">
            <a:avLst/>
          </a:prstGeom>
          <a:ln w="50800">
            <a:solidFill>
              <a:srgbClr val="000000"/>
            </a:solidFill>
            <a:round/>
            <a:tailEnd len="med" type="triangle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Freeform 29"/>
          <p:cNvSpPr/>
          <p:nvPr/>
        </p:nvSpPr>
        <p:spPr>
          <a:xfrm>
            <a:off x="1689480" y="6379920"/>
            <a:ext cx="203040" cy="191880"/>
          </a:xfrm>
          <a:custGeom>
            <a:avLst/>
            <a:gdLst>
              <a:gd name="textAreaLeft" fmla="*/ 0 w 203040"/>
              <a:gd name="textAreaRight" fmla="*/ 203760 w 203040"/>
              <a:gd name="textAreaTop" fmla="*/ 0 h 191880"/>
              <a:gd name="textAreaBottom" fmla="*/ 192600 h 191880"/>
            </a:gdLst>
            <a:ahLst/>
            <a:cxnLst/>
            <a:rect l="textAreaLeft" t="textAreaTop" r="textAreaRight" b="textAreaBottom"/>
            <a:pathLst>
              <a:path w="203870" h="192657">
                <a:moveTo>
                  <a:pt x="0" y="0"/>
                </a:moveTo>
                <a:lnTo>
                  <a:pt x="203870" y="0"/>
                </a:lnTo>
                <a:lnTo>
                  <a:pt x="203870" y="192656"/>
                </a:lnTo>
                <a:lnTo>
                  <a:pt x="0" y="19265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Freeform 30"/>
          <p:cNvSpPr/>
          <p:nvPr/>
        </p:nvSpPr>
        <p:spPr>
          <a:xfrm>
            <a:off x="4672440" y="6379920"/>
            <a:ext cx="203040" cy="191880"/>
          </a:xfrm>
          <a:custGeom>
            <a:avLst/>
            <a:gdLst>
              <a:gd name="textAreaLeft" fmla="*/ 0 w 203040"/>
              <a:gd name="textAreaRight" fmla="*/ 203760 w 203040"/>
              <a:gd name="textAreaTop" fmla="*/ 0 h 191880"/>
              <a:gd name="textAreaBottom" fmla="*/ 192600 h 191880"/>
            </a:gdLst>
            <a:ahLst/>
            <a:cxnLst/>
            <a:rect l="textAreaLeft" t="textAreaTop" r="textAreaRight" b="textAreaBottom"/>
            <a:pathLst>
              <a:path w="203870" h="192657">
                <a:moveTo>
                  <a:pt x="0" y="0"/>
                </a:moveTo>
                <a:lnTo>
                  <a:pt x="203870" y="0"/>
                </a:lnTo>
                <a:lnTo>
                  <a:pt x="203870" y="192656"/>
                </a:lnTo>
                <a:lnTo>
                  <a:pt x="0" y="19265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Freeform 31"/>
          <p:cNvSpPr/>
          <p:nvPr/>
        </p:nvSpPr>
        <p:spPr>
          <a:xfrm>
            <a:off x="7480440" y="6379920"/>
            <a:ext cx="203040" cy="191880"/>
          </a:xfrm>
          <a:custGeom>
            <a:avLst/>
            <a:gdLst>
              <a:gd name="textAreaLeft" fmla="*/ 0 w 203040"/>
              <a:gd name="textAreaRight" fmla="*/ 203760 w 203040"/>
              <a:gd name="textAreaTop" fmla="*/ 0 h 191880"/>
              <a:gd name="textAreaBottom" fmla="*/ 192600 h 191880"/>
            </a:gdLst>
            <a:ahLst/>
            <a:cxnLst/>
            <a:rect l="textAreaLeft" t="textAreaTop" r="textAreaRight" b="textAreaBottom"/>
            <a:pathLst>
              <a:path w="203870" h="192657">
                <a:moveTo>
                  <a:pt x="0" y="0"/>
                </a:moveTo>
                <a:lnTo>
                  <a:pt x="203870" y="0"/>
                </a:lnTo>
                <a:lnTo>
                  <a:pt x="203870" y="192656"/>
                </a:lnTo>
                <a:lnTo>
                  <a:pt x="0" y="19265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Freeform 32"/>
          <p:cNvSpPr/>
          <p:nvPr/>
        </p:nvSpPr>
        <p:spPr>
          <a:xfrm>
            <a:off x="10112400" y="6379920"/>
            <a:ext cx="203040" cy="191880"/>
          </a:xfrm>
          <a:custGeom>
            <a:avLst/>
            <a:gdLst>
              <a:gd name="textAreaLeft" fmla="*/ 0 w 203040"/>
              <a:gd name="textAreaRight" fmla="*/ 203760 w 203040"/>
              <a:gd name="textAreaTop" fmla="*/ 0 h 191880"/>
              <a:gd name="textAreaBottom" fmla="*/ 192600 h 191880"/>
            </a:gdLst>
            <a:ahLst/>
            <a:cxnLst/>
            <a:rect l="textAreaLeft" t="textAreaTop" r="textAreaRight" b="textAreaBottom"/>
            <a:pathLst>
              <a:path w="203870" h="192657">
                <a:moveTo>
                  <a:pt x="0" y="0"/>
                </a:moveTo>
                <a:lnTo>
                  <a:pt x="203870" y="0"/>
                </a:lnTo>
                <a:lnTo>
                  <a:pt x="203870" y="192656"/>
                </a:lnTo>
                <a:lnTo>
                  <a:pt x="0" y="19265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Freeform 33"/>
          <p:cNvSpPr/>
          <p:nvPr/>
        </p:nvSpPr>
        <p:spPr>
          <a:xfrm>
            <a:off x="12804120" y="6379920"/>
            <a:ext cx="203040" cy="191880"/>
          </a:xfrm>
          <a:custGeom>
            <a:avLst/>
            <a:gdLst>
              <a:gd name="textAreaLeft" fmla="*/ 0 w 203040"/>
              <a:gd name="textAreaRight" fmla="*/ 203760 w 203040"/>
              <a:gd name="textAreaTop" fmla="*/ 0 h 191880"/>
              <a:gd name="textAreaBottom" fmla="*/ 192600 h 191880"/>
            </a:gdLst>
            <a:ahLst/>
            <a:cxnLst/>
            <a:rect l="textAreaLeft" t="textAreaTop" r="textAreaRight" b="textAreaBottom"/>
            <a:pathLst>
              <a:path w="203870" h="192657">
                <a:moveTo>
                  <a:pt x="0" y="0"/>
                </a:moveTo>
                <a:lnTo>
                  <a:pt x="203870" y="0"/>
                </a:lnTo>
                <a:lnTo>
                  <a:pt x="203870" y="192656"/>
                </a:lnTo>
                <a:lnTo>
                  <a:pt x="0" y="19265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Freeform 34"/>
          <p:cNvSpPr/>
          <p:nvPr/>
        </p:nvSpPr>
        <p:spPr>
          <a:xfrm>
            <a:off x="16164720" y="6379920"/>
            <a:ext cx="203040" cy="191880"/>
          </a:xfrm>
          <a:custGeom>
            <a:avLst/>
            <a:gdLst>
              <a:gd name="textAreaLeft" fmla="*/ 0 w 203040"/>
              <a:gd name="textAreaRight" fmla="*/ 203760 w 203040"/>
              <a:gd name="textAreaTop" fmla="*/ 0 h 191880"/>
              <a:gd name="textAreaBottom" fmla="*/ 192600 h 191880"/>
            </a:gdLst>
            <a:ahLst/>
            <a:cxnLst/>
            <a:rect l="textAreaLeft" t="textAreaTop" r="textAreaRight" b="textAreaBottom"/>
            <a:pathLst>
              <a:path w="203870" h="192657">
                <a:moveTo>
                  <a:pt x="0" y="0"/>
                </a:moveTo>
                <a:lnTo>
                  <a:pt x="203870" y="0"/>
                </a:lnTo>
                <a:lnTo>
                  <a:pt x="203870" y="192656"/>
                </a:lnTo>
                <a:lnTo>
                  <a:pt x="0" y="19265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1b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roup 2"/>
          <p:cNvGrpSpPr/>
          <p:nvPr/>
        </p:nvGrpSpPr>
        <p:grpSpPr>
          <a:xfrm>
            <a:off x="9144000" y="-144720"/>
            <a:ext cx="9143280" cy="272520"/>
            <a:chOff x="9144000" y="-144720"/>
            <a:chExt cx="9143280" cy="272520"/>
          </a:xfrm>
        </p:grpSpPr>
        <p:sp>
          <p:nvSpPr>
            <p:cNvPr id="130" name="Freeform 3"/>
            <p:cNvSpPr/>
            <p:nvPr/>
          </p:nvSpPr>
          <p:spPr>
            <a:xfrm>
              <a:off x="9144000" y="0"/>
              <a:ext cx="9143280" cy="127800"/>
            </a:xfrm>
            <a:custGeom>
              <a:avLst/>
              <a:gdLst>
                <a:gd name="textAreaLeft" fmla="*/ 0 w 9143280"/>
                <a:gd name="textAreaRight" fmla="*/ 9144000 w 9143280"/>
                <a:gd name="textAreaTop" fmla="*/ 0 h 127800"/>
                <a:gd name="textAreaBottom" fmla="*/ 128520 h 127800"/>
              </a:gdLst>
              <a:ahLst/>
              <a:cxnLst/>
              <a:rect l="textAreaLeft" t="textAreaTop" r="textAreaRight" b="textAreaBottom"/>
              <a:pathLst>
                <a:path w="2408296" h="33854">
                  <a:moveTo>
                    <a:pt x="0" y="0"/>
                  </a:moveTo>
                  <a:lnTo>
                    <a:pt x="2408296" y="0"/>
                  </a:lnTo>
                  <a:lnTo>
                    <a:pt x="2408296" y="33854"/>
                  </a:lnTo>
                  <a:lnTo>
                    <a:pt x="0" y="33854"/>
                  </a:lnTo>
                  <a:close/>
                </a:path>
              </a:pathLst>
            </a:custGeom>
            <a:solidFill>
              <a:srgbClr val="8f845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TextBox 4"/>
            <p:cNvSpPr/>
            <p:nvPr/>
          </p:nvSpPr>
          <p:spPr>
            <a:xfrm>
              <a:off x="9144000" y="-144720"/>
              <a:ext cx="914328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32" name="Group 5"/>
          <p:cNvGrpSpPr/>
          <p:nvPr/>
        </p:nvGrpSpPr>
        <p:grpSpPr>
          <a:xfrm>
            <a:off x="0" y="10013760"/>
            <a:ext cx="9143280" cy="272520"/>
            <a:chOff x="0" y="10013760"/>
            <a:chExt cx="9143280" cy="272520"/>
          </a:xfrm>
        </p:grpSpPr>
        <p:sp>
          <p:nvSpPr>
            <p:cNvPr id="133" name="Freeform 6"/>
            <p:cNvSpPr/>
            <p:nvPr/>
          </p:nvSpPr>
          <p:spPr>
            <a:xfrm>
              <a:off x="0" y="10158480"/>
              <a:ext cx="9143280" cy="127800"/>
            </a:xfrm>
            <a:custGeom>
              <a:avLst/>
              <a:gdLst>
                <a:gd name="textAreaLeft" fmla="*/ 0 w 9143280"/>
                <a:gd name="textAreaRight" fmla="*/ 9144000 w 9143280"/>
                <a:gd name="textAreaTop" fmla="*/ 0 h 127800"/>
                <a:gd name="textAreaBottom" fmla="*/ 128520 h 127800"/>
              </a:gdLst>
              <a:ahLst/>
              <a:cxnLst/>
              <a:rect l="textAreaLeft" t="textAreaTop" r="textAreaRight" b="textAreaBottom"/>
              <a:pathLst>
                <a:path w="2408296" h="33854">
                  <a:moveTo>
                    <a:pt x="0" y="0"/>
                  </a:moveTo>
                  <a:lnTo>
                    <a:pt x="2408296" y="0"/>
                  </a:lnTo>
                  <a:lnTo>
                    <a:pt x="2408296" y="33854"/>
                  </a:lnTo>
                  <a:lnTo>
                    <a:pt x="0" y="33854"/>
                  </a:lnTo>
                  <a:close/>
                </a:path>
              </a:pathLst>
            </a:custGeom>
            <a:solidFill>
              <a:srgbClr val="8f845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" name="TextBox 7"/>
            <p:cNvSpPr/>
            <p:nvPr/>
          </p:nvSpPr>
          <p:spPr>
            <a:xfrm>
              <a:off x="0" y="10013760"/>
              <a:ext cx="914328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35" name="Freeform 8"/>
          <p:cNvSpPr/>
          <p:nvPr/>
        </p:nvSpPr>
        <p:spPr>
          <a:xfrm>
            <a:off x="15734160" y="7733160"/>
            <a:ext cx="2553120" cy="2553120"/>
          </a:xfrm>
          <a:custGeom>
            <a:avLst/>
            <a:gdLst>
              <a:gd name="textAreaLeft" fmla="*/ 0 w 2553120"/>
              <a:gd name="textAreaRight" fmla="*/ 2553840 w 2553120"/>
              <a:gd name="textAreaTop" fmla="*/ 0 h 2553120"/>
              <a:gd name="textAreaBottom" fmla="*/ 2553840 h 2553120"/>
            </a:gdLst>
            <a:ahLst/>
            <a:cxnLst/>
            <a:rect l="textAreaLeft" t="textAreaTop" r="textAreaRight" b="textAreaBottom"/>
            <a:pathLst>
              <a:path w="2553943" h="2553943">
                <a:moveTo>
                  <a:pt x="0" y="0"/>
                </a:moveTo>
                <a:lnTo>
                  <a:pt x="2553943" y="0"/>
                </a:lnTo>
                <a:lnTo>
                  <a:pt x="2553943" y="2553943"/>
                </a:lnTo>
                <a:lnTo>
                  <a:pt x="0" y="255394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9"/>
          <p:cNvSpPr/>
          <p:nvPr/>
        </p:nvSpPr>
        <p:spPr>
          <a:xfrm>
            <a:off x="3574440" y="1260000"/>
            <a:ext cx="10825200" cy="92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279"/>
              </a:lnSpc>
            </a:pPr>
            <a:r>
              <a:rPr b="1" lang="en-US" sz="52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O começo</a:t>
            </a:r>
            <a:endParaRPr b="0" lang="pt-BR" sz="5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10"/>
          <p:cNvSpPr/>
          <p:nvPr/>
        </p:nvSpPr>
        <p:spPr>
          <a:xfrm>
            <a:off x="3895560" y="2743920"/>
            <a:ext cx="10496520" cy="241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734040" indent="-367200" defTabSz="914400">
              <a:lnSpc>
                <a:spcPts val="4759"/>
              </a:lnSpc>
              <a:buClr>
                <a:srgbClr val="545454"/>
              </a:buClr>
              <a:buFont typeface="Arial"/>
              <a:buChar char="•"/>
            </a:pPr>
            <a:r>
              <a:rPr b="0" lang="en-US" sz="3400" strike="noStrike" u="none">
                <a:solidFill>
                  <a:srgbClr val="545454"/>
                </a:solidFill>
                <a:effectLst/>
                <a:uFillTx/>
                <a:latin typeface="Arial"/>
                <a:ea typeface="Arial"/>
              </a:rPr>
              <a:t>Falta de desempenho no Sqlite;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34040" indent="-367200" defTabSz="914400">
              <a:lnSpc>
                <a:spcPts val="4759"/>
              </a:lnSpc>
              <a:buClr>
                <a:srgbClr val="545454"/>
              </a:buClr>
              <a:buFont typeface="Arial"/>
              <a:buChar char="•"/>
            </a:pPr>
            <a:r>
              <a:rPr b="0" lang="en-US" sz="3400" strike="noStrike" u="none">
                <a:solidFill>
                  <a:srgbClr val="545454"/>
                </a:solidFill>
                <a:effectLst/>
                <a:uFillTx/>
                <a:latin typeface="Arial"/>
                <a:ea typeface="Arial"/>
              </a:rPr>
              <a:t>Criado na mesma instituição onde surgiu o Python;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34040" indent="-367200" defTabSz="914400">
              <a:lnSpc>
                <a:spcPts val="4759"/>
              </a:lnSpc>
              <a:buClr>
                <a:srgbClr val="545454"/>
              </a:buClr>
              <a:buFont typeface="Arial"/>
              <a:buChar char="•"/>
            </a:pPr>
            <a:r>
              <a:rPr b="0" lang="en-US" sz="3400" strike="noStrike" u="none">
                <a:solidFill>
                  <a:srgbClr val="545454"/>
                </a:solidFill>
                <a:effectLst/>
                <a:uFillTx/>
                <a:latin typeface="Arial"/>
                <a:ea typeface="Arial"/>
              </a:rPr>
              <a:t>Arquitetura projetada para alto desempenho local;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34040" indent="-367200" defTabSz="914400">
              <a:lnSpc>
                <a:spcPts val="4759"/>
              </a:lnSpc>
              <a:buClr>
                <a:srgbClr val="545454"/>
              </a:buClr>
              <a:buFont typeface="Arial"/>
              <a:buChar char="•"/>
            </a:pPr>
            <a:r>
              <a:rPr b="0" lang="en-US" sz="3400" strike="noStrike" u="none">
                <a:solidFill>
                  <a:srgbClr val="545454"/>
                </a:solidFill>
                <a:effectLst/>
                <a:uFillTx/>
                <a:latin typeface="Arial"/>
                <a:ea typeface="Arial"/>
              </a:rPr>
              <a:t>Enfrentamento ao ceticismo.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1b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roup 2"/>
          <p:cNvGrpSpPr/>
          <p:nvPr/>
        </p:nvGrpSpPr>
        <p:grpSpPr>
          <a:xfrm>
            <a:off x="9144000" y="-144720"/>
            <a:ext cx="9143280" cy="272520"/>
            <a:chOff x="9144000" y="-144720"/>
            <a:chExt cx="9143280" cy="272520"/>
          </a:xfrm>
        </p:grpSpPr>
        <p:sp>
          <p:nvSpPr>
            <p:cNvPr id="139" name="Freeform 3"/>
            <p:cNvSpPr/>
            <p:nvPr/>
          </p:nvSpPr>
          <p:spPr>
            <a:xfrm>
              <a:off x="9144000" y="0"/>
              <a:ext cx="9143280" cy="127800"/>
            </a:xfrm>
            <a:custGeom>
              <a:avLst/>
              <a:gdLst>
                <a:gd name="textAreaLeft" fmla="*/ 0 w 9143280"/>
                <a:gd name="textAreaRight" fmla="*/ 9144000 w 9143280"/>
                <a:gd name="textAreaTop" fmla="*/ 0 h 127800"/>
                <a:gd name="textAreaBottom" fmla="*/ 128520 h 127800"/>
              </a:gdLst>
              <a:ahLst/>
              <a:cxnLst/>
              <a:rect l="textAreaLeft" t="textAreaTop" r="textAreaRight" b="textAreaBottom"/>
              <a:pathLst>
                <a:path w="2408296" h="33854">
                  <a:moveTo>
                    <a:pt x="0" y="0"/>
                  </a:moveTo>
                  <a:lnTo>
                    <a:pt x="2408296" y="0"/>
                  </a:lnTo>
                  <a:lnTo>
                    <a:pt x="2408296" y="33854"/>
                  </a:lnTo>
                  <a:lnTo>
                    <a:pt x="0" y="33854"/>
                  </a:lnTo>
                  <a:close/>
                </a:path>
              </a:pathLst>
            </a:custGeom>
            <a:solidFill>
              <a:srgbClr val="8f845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TextBox 4"/>
            <p:cNvSpPr/>
            <p:nvPr/>
          </p:nvSpPr>
          <p:spPr>
            <a:xfrm>
              <a:off x="9144000" y="-144720"/>
              <a:ext cx="914328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41" name="Group 5"/>
          <p:cNvGrpSpPr/>
          <p:nvPr/>
        </p:nvGrpSpPr>
        <p:grpSpPr>
          <a:xfrm>
            <a:off x="0" y="10013760"/>
            <a:ext cx="9143280" cy="272520"/>
            <a:chOff x="0" y="10013760"/>
            <a:chExt cx="9143280" cy="272520"/>
          </a:xfrm>
        </p:grpSpPr>
        <p:sp>
          <p:nvSpPr>
            <p:cNvPr id="142" name="Freeform 6"/>
            <p:cNvSpPr/>
            <p:nvPr/>
          </p:nvSpPr>
          <p:spPr>
            <a:xfrm>
              <a:off x="0" y="10158480"/>
              <a:ext cx="9143280" cy="127800"/>
            </a:xfrm>
            <a:custGeom>
              <a:avLst/>
              <a:gdLst>
                <a:gd name="textAreaLeft" fmla="*/ 0 w 9143280"/>
                <a:gd name="textAreaRight" fmla="*/ 9144000 w 9143280"/>
                <a:gd name="textAreaTop" fmla="*/ 0 h 127800"/>
                <a:gd name="textAreaBottom" fmla="*/ 128520 h 127800"/>
              </a:gdLst>
              <a:ahLst/>
              <a:cxnLst/>
              <a:rect l="textAreaLeft" t="textAreaTop" r="textAreaRight" b="textAreaBottom"/>
              <a:pathLst>
                <a:path w="2408296" h="33854">
                  <a:moveTo>
                    <a:pt x="0" y="0"/>
                  </a:moveTo>
                  <a:lnTo>
                    <a:pt x="2408296" y="0"/>
                  </a:lnTo>
                  <a:lnTo>
                    <a:pt x="2408296" y="33854"/>
                  </a:lnTo>
                  <a:lnTo>
                    <a:pt x="0" y="33854"/>
                  </a:lnTo>
                  <a:close/>
                </a:path>
              </a:pathLst>
            </a:custGeom>
            <a:solidFill>
              <a:srgbClr val="8f845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TextBox 7"/>
            <p:cNvSpPr/>
            <p:nvPr/>
          </p:nvSpPr>
          <p:spPr>
            <a:xfrm>
              <a:off x="0" y="10013760"/>
              <a:ext cx="914328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44" name="Group 8"/>
          <p:cNvGrpSpPr/>
          <p:nvPr/>
        </p:nvGrpSpPr>
        <p:grpSpPr>
          <a:xfrm>
            <a:off x="2066400" y="2418120"/>
            <a:ext cx="2894040" cy="3365280"/>
            <a:chOff x="2066400" y="2418120"/>
            <a:chExt cx="2894040" cy="3365280"/>
          </a:xfrm>
        </p:grpSpPr>
        <p:sp>
          <p:nvSpPr>
            <p:cNvPr id="145" name="Freeform 9"/>
            <p:cNvSpPr/>
            <p:nvPr/>
          </p:nvSpPr>
          <p:spPr>
            <a:xfrm>
              <a:off x="2066400" y="2418120"/>
              <a:ext cx="2894040" cy="3365280"/>
            </a:xfrm>
            <a:custGeom>
              <a:avLst/>
              <a:gdLst>
                <a:gd name="textAreaLeft" fmla="*/ 0 w 2894040"/>
                <a:gd name="textAreaRight" fmla="*/ 2894760 w 2894040"/>
                <a:gd name="textAreaTop" fmla="*/ 0 h 3365280"/>
                <a:gd name="textAreaBottom" fmla="*/ 3366000 h 3365280"/>
              </a:gdLst>
              <a:ahLst/>
              <a:cxnLst/>
              <a:rect l="textAreaLeft" t="textAreaTop" r="textAreaRight" b="textAreaBottom"/>
              <a:pathLst>
                <a:path w="3859562" h="4487863">
                  <a:moveTo>
                    <a:pt x="0" y="0"/>
                  </a:moveTo>
                  <a:lnTo>
                    <a:pt x="3859562" y="0"/>
                  </a:lnTo>
                  <a:lnTo>
                    <a:pt x="3859562" y="4487863"/>
                  </a:lnTo>
                  <a:lnTo>
                    <a:pt x="0" y="4487863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Freeform 10"/>
            <p:cNvSpPr/>
            <p:nvPr/>
          </p:nvSpPr>
          <p:spPr>
            <a:xfrm>
              <a:off x="3513960" y="2768400"/>
              <a:ext cx="1057320" cy="1057320"/>
            </a:xfrm>
            <a:custGeom>
              <a:avLst/>
              <a:gdLst>
                <a:gd name="textAreaLeft" fmla="*/ 0 w 1057320"/>
                <a:gd name="textAreaRight" fmla="*/ 1058040 w 1057320"/>
                <a:gd name="textAreaTop" fmla="*/ 0 h 1057320"/>
                <a:gd name="textAreaBottom" fmla="*/ 1058040 h 1057320"/>
              </a:gdLst>
              <a:ahLst/>
              <a:cxnLst/>
              <a:rect l="textAreaLeft" t="textAreaTop" r="textAreaRight" b="textAreaBottom"/>
              <a:pathLst>
                <a:path w="1410892" h="1410892">
                  <a:moveTo>
                    <a:pt x="0" y="0"/>
                  </a:moveTo>
                  <a:lnTo>
                    <a:pt x="1410893" y="0"/>
                  </a:lnTo>
                  <a:lnTo>
                    <a:pt x="1410893" y="1410893"/>
                  </a:lnTo>
                  <a:lnTo>
                    <a:pt x="0" y="1410893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" name="Freeform 11"/>
            <p:cNvSpPr/>
            <p:nvPr/>
          </p:nvSpPr>
          <p:spPr>
            <a:xfrm>
              <a:off x="2489400" y="2512440"/>
              <a:ext cx="1023840" cy="1023840"/>
            </a:xfrm>
            <a:custGeom>
              <a:avLst/>
              <a:gdLst>
                <a:gd name="textAreaLeft" fmla="*/ 0 w 1023840"/>
                <a:gd name="textAreaRight" fmla="*/ 1024560 w 1023840"/>
                <a:gd name="textAreaTop" fmla="*/ 0 h 1023840"/>
                <a:gd name="textAreaBottom" fmla="*/ 1024560 h 1023840"/>
              </a:gdLst>
              <a:ahLst/>
              <a:cxnLst/>
              <a:rect l="textAreaLeft" t="textAreaTop" r="textAreaRight" b="textAreaBottom"/>
              <a:pathLst>
                <a:path w="1366117" h="1366117">
                  <a:moveTo>
                    <a:pt x="0" y="0"/>
                  </a:moveTo>
                  <a:lnTo>
                    <a:pt x="1366117" y="0"/>
                  </a:lnTo>
                  <a:lnTo>
                    <a:pt x="1366117" y="1366117"/>
                  </a:lnTo>
                  <a:lnTo>
                    <a:pt x="0" y="1366117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8" name="Group 12"/>
          <p:cNvGrpSpPr/>
          <p:nvPr/>
        </p:nvGrpSpPr>
        <p:grpSpPr>
          <a:xfrm>
            <a:off x="6756480" y="2237400"/>
            <a:ext cx="10329120" cy="7146000"/>
            <a:chOff x="6756480" y="2237400"/>
            <a:chExt cx="10329120" cy="7146000"/>
          </a:xfrm>
        </p:grpSpPr>
        <p:sp>
          <p:nvSpPr>
            <p:cNvPr id="149" name="Freeform 13"/>
            <p:cNvSpPr/>
            <p:nvPr/>
          </p:nvSpPr>
          <p:spPr>
            <a:xfrm>
              <a:off x="6756480" y="2418120"/>
              <a:ext cx="10329120" cy="6965280"/>
            </a:xfrm>
            <a:custGeom>
              <a:avLst/>
              <a:gdLst>
                <a:gd name="textAreaLeft" fmla="*/ 0 w 10329120"/>
                <a:gd name="textAreaRight" fmla="*/ 10329840 w 10329120"/>
                <a:gd name="textAreaTop" fmla="*/ 0 h 6965280"/>
                <a:gd name="textAreaBottom" fmla="*/ 6966000 h 6965280"/>
              </a:gdLst>
              <a:ahLst/>
              <a:cxnLst/>
              <a:rect l="textAreaLeft" t="textAreaTop" r="textAreaRight" b="textAreaBottom"/>
              <a:pathLst>
                <a:path w="2720644" h="1834681">
                  <a:moveTo>
                    <a:pt x="7495" y="0"/>
                  </a:moveTo>
                  <a:lnTo>
                    <a:pt x="2713149" y="0"/>
                  </a:lnTo>
                  <a:cubicBezTo>
                    <a:pt x="2717289" y="0"/>
                    <a:pt x="2720644" y="3355"/>
                    <a:pt x="2720644" y="7495"/>
                  </a:cubicBezTo>
                  <a:lnTo>
                    <a:pt x="2720644" y="1827186"/>
                  </a:lnTo>
                  <a:cubicBezTo>
                    <a:pt x="2720644" y="1831326"/>
                    <a:pt x="2717289" y="1834681"/>
                    <a:pt x="2713149" y="1834681"/>
                  </a:cubicBezTo>
                  <a:lnTo>
                    <a:pt x="7495" y="1834681"/>
                  </a:lnTo>
                  <a:cubicBezTo>
                    <a:pt x="3355" y="1834681"/>
                    <a:pt x="0" y="1831326"/>
                    <a:pt x="0" y="1827186"/>
                  </a:cubicBezTo>
                  <a:lnTo>
                    <a:pt x="0" y="7495"/>
                  </a:lnTo>
                  <a:cubicBezTo>
                    <a:pt x="0" y="3355"/>
                    <a:pt x="3355" y="0"/>
                    <a:pt x="7495" y="0"/>
                  </a:cubicBezTo>
                  <a:close/>
                </a:path>
              </a:pathLst>
            </a:custGeom>
            <a:solidFill>
              <a:srgbClr val="8f8451">
                <a:alpha val="4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TextBox 14"/>
            <p:cNvSpPr/>
            <p:nvPr/>
          </p:nvSpPr>
          <p:spPr>
            <a:xfrm>
              <a:off x="6756480" y="2237400"/>
              <a:ext cx="10329120" cy="7146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801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51" name="Freeform 15"/>
          <p:cNvSpPr/>
          <p:nvPr/>
        </p:nvSpPr>
        <p:spPr>
          <a:xfrm>
            <a:off x="6567480" y="2244960"/>
            <a:ext cx="10361160" cy="7012440"/>
          </a:xfrm>
          <a:custGeom>
            <a:avLst/>
            <a:gdLst>
              <a:gd name="textAreaLeft" fmla="*/ 0 w 10361160"/>
              <a:gd name="textAreaRight" fmla="*/ 10361880 w 10361160"/>
              <a:gd name="textAreaTop" fmla="*/ 0 h 7012440"/>
              <a:gd name="textAreaBottom" fmla="*/ 7013160 h 7012440"/>
            </a:gdLst>
            <a:ahLst/>
            <a:cxnLst/>
            <a:rect l="textAreaLeft" t="textAreaTop" r="textAreaRight" b="textAreaBottom"/>
            <a:pathLst>
              <a:path w="10361915" h="7013243">
                <a:moveTo>
                  <a:pt x="0" y="0"/>
                </a:moveTo>
                <a:lnTo>
                  <a:pt x="10361915" y="0"/>
                </a:lnTo>
                <a:lnTo>
                  <a:pt x="10361915" y="7013243"/>
                </a:lnTo>
                <a:lnTo>
                  <a:pt x="0" y="701324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16"/>
          <p:cNvSpPr/>
          <p:nvPr/>
        </p:nvSpPr>
        <p:spPr>
          <a:xfrm>
            <a:off x="976320" y="961920"/>
            <a:ext cx="15403320" cy="60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9"/>
              </a:lnSpc>
            </a:pPr>
            <a:r>
              <a:rPr b="1" lang="en-US" sz="3400" strike="noStrike" u="none">
                <a:solidFill>
                  <a:srgbClr val="545454"/>
                </a:solidFill>
                <a:effectLst/>
                <a:uFillTx/>
                <a:latin typeface="Open Sans Bold"/>
                <a:ea typeface="Open Sans Bold"/>
              </a:rPr>
              <a:t>O grande reconhecimento...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1b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roup 2"/>
          <p:cNvGrpSpPr/>
          <p:nvPr/>
        </p:nvGrpSpPr>
        <p:grpSpPr>
          <a:xfrm>
            <a:off x="9144000" y="-144720"/>
            <a:ext cx="9143280" cy="272520"/>
            <a:chOff x="9144000" y="-144720"/>
            <a:chExt cx="9143280" cy="272520"/>
          </a:xfrm>
        </p:grpSpPr>
        <p:sp>
          <p:nvSpPr>
            <p:cNvPr id="154" name="Freeform 3"/>
            <p:cNvSpPr/>
            <p:nvPr/>
          </p:nvSpPr>
          <p:spPr>
            <a:xfrm>
              <a:off x="9144000" y="0"/>
              <a:ext cx="9143280" cy="127800"/>
            </a:xfrm>
            <a:custGeom>
              <a:avLst/>
              <a:gdLst>
                <a:gd name="textAreaLeft" fmla="*/ 0 w 9143280"/>
                <a:gd name="textAreaRight" fmla="*/ 9144000 w 9143280"/>
                <a:gd name="textAreaTop" fmla="*/ 0 h 127800"/>
                <a:gd name="textAreaBottom" fmla="*/ 128520 h 127800"/>
              </a:gdLst>
              <a:ahLst/>
              <a:cxnLst/>
              <a:rect l="textAreaLeft" t="textAreaTop" r="textAreaRight" b="textAreaBottom"/>
              <a:pathLst>
                <a:path w="2408296" h="33854">
                  <a:moveTo>
                    <a:pt x="0" y="0"/>
                  </a:moveTo>
                  <a:lnTo>
                    <a:pt x="2408296" y="0"/>
                  </a:lnTo>
                  <a:lnTo>
                    <a:pt x="2408296" y="33854"/>
                  </a:lnTo>
                  <a:lnTo>
                    <a:pt x="0" y="33854"/>
                  </a:lnTo>
                  <a:close/>
                </a:path>
              </a:pathLst>
            </a:custGeom>
            <a:solidFill>
              <a:srgbClr val="8f845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TextBox 4"/>
            <p:cNvSpPr/>
            <p:nvPr/>
          </p:nvSpPr>
          <p:spPr>
            <a:xfrm>
              <a:off x="9144000" y="-144720"/>
              <a:ext cx="914328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56" name="Group 5"/>
          <p:cNvGrpSpPr/>
          <p:nvPr/>
        </p:nvGrpSpPr>
        <p:grpSpPr>
          <a:xfrm>
            <a:off x="0" y="10013760"/>
            <a:ext cx="9143280" cy="272520"/>
            <a:chOff x="0" y="10013760"/>
            <a:chExt cx="9143280" cy="272520"/>
          </a:xfrm>
        </p:grpSpPr>
        <p:sp>
          <p:nvSpPr>
            <p:cNvPr id="157" name="Freeform 6"/>
            <p:cNvSpPr/>
            <p:nvPr/>
          </p:nvSpPr>
          <p:spPr>
            <a:xfrm>
              <a:off x="0" y="10158480"/>
              <a:ext cx="9143280" cy="127800"/>
            </a:xfrm>
            <a:custGeom>
              <a:avLst/>
              <a:gdLst>
                <a:gd name="textAreaLeft" fmla="*/ 0 w 9143280"/>
                <a:gd name="textAreaRight" fmla="*/ 9144000 w 9143280"/>
                <a:gd name="textAreaTop" fmla="*/ 0 h 127800"/>
                <a:gd name="textAreaBottom" fmla="*/ 128520 h 127800"/>
              </a:gdLst>
              <a:ahLst/>
              <a:cxnLst/>
              <a:rect l="textAreaLeft" t="textAreaTop" r="textAreaRight" b="textAreaBottom"/>
              <a:pathLst>
                <a:path w="2408296" h="33854">
                  <a:moveTo>
                    <a:pt x="0" y="0"/>
                  </a:moveTo>
                  <a:lnTo>
                    <a:pt x="2408296" y="0"/>
                  </a:lnTo>
                  <a:lnTo>
                    <a:pt x="2408296" y="33854"/>
                  </a:lnTo>
                  <a:lnTo>
                    <a:pt x="0" y="33854"/>
                  </a:lnTo>
                  <a:close/>
                </a:path>
              </a:pathLst>
            </a:custGeom>
            <a:solidFill>
              <a:srgbClr val="8f845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TextBox 7"/>
            <p:cNvSpPr/>
            <p:nvPr/>
          </p:nvSpPr>
          <p:spPr>
            <a:xfrm>
              <a:off x="0" y="10013760"/>
              <a:ext cx="914328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59" name="Freeform 8"/>
          <p:cNvSpPr/>
          <p:nvPr/>
        </p:nvSpPr>
        <p:spPr>
          <a:xfrm>
            <a:off x="11946240" y="2714400"/>
            <a:ext cx="4241520" cy="4114080"/>
          </a:xfrm>
          <a:custGeom>
            <a:avLst/>
            <a:gdLst>
              <a:gd name="textAreaLeft" fmla="*/ 0 w 4241520"/>
              <a:gd name="textAreaRight" fmla="*/ 4242240 w 4241520"/>
              <a:gd name="textAreaTop" fmla="*/ 0 h 4114080"/>
              <a:gd name="textAreaBottom" fmla="*/ 4114800 h 4114080"/>
            </a:gdLst>
            <a:ahLst/>
            <a:cxnLst/>
            <a:rect l="textAreaLeft" t="textAreaTop" r="textAreaRight" b="textAreaBottom"/>
            <a:pathLst>
              <a:path w="4242062" h="4114800">
                <a:moveTo>
                  <a:pt x="0" y="0"/>
                </a:moveTo>
                <a:lnTo>
                  <a:pt x="4242062" y="0"/>
                </a:lnTo>
                <a:lnTo>
                  <a:pt x="424206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9"/>
          <p:cNvSpPr/>
          <p:nvPr/>
        </p:nvSpPr>
        <p:spPr>
          <a:xfrm>
            <a:off x="3541680" y="1178280"/>
            <a:ext cx="1139796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898"/>
              </a:lnSpc>
            </a:pPr>
            <a:r>
              <a:rPr b="1" lang="en-US" sz="3500" strike="noStrike" u="none">
                <a:solidFill>
                  <a:srgbClr val="545454"/>
                </a:solidFill>
                <a:effectLst/>
                <a:uFillTx/>
                <a:latin typeface="Arial Bold"/>
                <a:ea typeface="Arial Bold"/>
              </a:rPr>
              <a:t>Marco de Estabilidade</a:t>
            </a:r>
            <a:endParaRPr b="0" lang="pt-BR" sz="3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10"/>
          <p:cNvSpPr/>
          <p:nvPr/>
        </p:nvSpPr>
        <p:spPr>
          <a:xfrm>
            <a:off x="1555920" y="3229200"/>
            <a:ext cx="9543960" cy="30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734040" indent="-367200" defTabSz="914400">
              <a:lnSpc>
                <a:spcPts val="4759"/>
              </a:lnSpc>
              <a:buClr>
                <a:srgbClr val="545454"/>
              </a:buClr>
              <a:buFont typeface="Arial"/>
              <a:buChar char="•"/>
            </a:pPr>
            <a:r>
              <a:rPr b="0" lang="en-US" sz="3400" strike="noStrike" u="none">
                <a:solidFill>
                  <a:srgbClr val="545454"/>
                </a:solidFill>
                <a:effectLst/>
                <a:uFillTx/>
                <a:latin typeface="Arial"/>
                <a:ea typeface="Arial"/>
              </a:rPr>
              <a:t>Crescente adesão de usuários;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34040" indent="-367200" defTabSz="914400">
              <a:lnSpc>
                <a:spcPts val="4759"/>
              </a:lnSpc>
              <a:buClr>
                <a:srgbClr val="545454"/>
              </a:buClr>
              <a:buFont typeface="Arial"/>
              <a:buChar char="•"/>
            </a:pPr>
            <a:r>
              <a:rPr b="0" lang="en-US" sz="3400" strike="noStrike" u="none">
                <a:solidFill>
                  <a:srgbClr val="545454"/>
                </a:solidFill>
                <a:effectLst/>
                <a:uFillTx/>
                <a:latin typeface="Arial"/>
                <a:ea typeface="Arial"/>
              </a:rPr>
              <a:t>Top tier de banco de dados para análise local;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34040" indent="-367200" defTabSz="914400">
              <a:lnSpc>
                <a:spcPts val="4759"/>
              </a:lnSpc>
              <a:buClr>
                <a:srgbClr val="545454"/>
              </a:buClr>
              <a:buFont typeface="Arial"/>
              <a:buChar char="•"/>
            </a:pPr>
            <a:r>
              <a:rPr b="0" lang="en-US" sz="3400" strike="noStrike" u="none">
                <a:solidFill>
                  <a:srgbClr val="545454"/>
                </a:solidFill>
                <a:effectLst/>
                <a:uFillTx/>
                <a:latin typeface="Arial"/>
                <a:ea typeface="Arial"/>
              </a:rPr>
              <a:t>Libs com milhares de downloads;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34040" indent="-367200" defTabSz="914400">
              <a:lnSpc>
                <a:spcPts val="4759"/>
              </a:lnSpc>
              <a:buClr>
                <a:srgbClr val="545454"/>
              </a:buClr>
              <a:buFont typeface="Arial"/>
              <a:buChar char="•"/>
            </a:pPr>
            <a:r>
              <a:rPr b="0" lang="en-US" sz="3400" strike="noStrike" u="none">
                <a:solidFill>
                  <a:srgbClr val="545454"/>
                </a:solidFill>
                <a:effectLst/>
                <a:uFillTx/>
                <a:latin typeface="Arial"/>
                <a:ea typeface="Arial"/>
              </a:rPr>
              <a:t>Economia brutal com análise de dados;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34040" indent="-367200" defTabSz="914400">
              <a:lnSpc>
                <a:spcPts val="4759"/>
              </a:lnSpc>
              <a:buClr>
                <a:srgbClr val="545454"/>
              </a:buClr>
              <a:buFont typeface="Arial"/>
              <a:buChar char="•"/>
            </a:pPr>
            <a:r>
              <a:rPr b="0" lang="en-US" sz="3400" strike="noStrike" u="none">
                <a:solidFill>
                  <a:srgbClr val="545454"/>
                </a:solidFill>
                <a:effectLst/>
                <a:uFillTx/>
                <a:latin typeface="Arial"/>
                <a:ea typeface="Arial"/>
              </a:rPr>
              <a:t>Local first e simplicidade.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1b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Freeform 2"/>
          <p:cNvSpPr/>
          <p:nvPr/>
        </p:nvSpPr>
        <p:spPr>
          <a:xfrm flipH="1">
            <a:off x="5779080" y="3694320"/>
            <a:ext cx="4840200" cy="4114080"/>
          </a:xfrm>
          <a:custGeom>
            <a:avLst/>
            <a:gdLst>
              <a:gd name="textAreaLeft" fmla="*/ 360 w 4840200"/>
              <a:gd name="textAreaRight" fmla="*/ 4841280 w 4840200"/>
              <a:gd name="textAreaTop" fmla="*/ 0 h 4114080"/>
              <a:gd name="textAreaBottom" fmla="*/ 4114800 h 4114080"/>
            </a:gdLst>
            <a:ahLst/>
            <a:cxnLst/>
            <a:rect l="textAreaLeft" t="textAreaTop" r="textAreaRight" b="textAreaBottom"/>
            <a:pathLst>
              <a:path w="4840941" h="4114800">
                <a:moveTo>
                  <a:pt x="4840942" y="0"/>
                </a:moveTo>
                <a:lnTo>
                  <a:pt x="0" y="0"/>
                </a:lnTo>
                <a:lnTo>
                  <a:pt x="0" y="4114800"/>
                </a:lnTo>
                <a:lnTo>
                  <a:pt x="4840942" y="4114800"/>
                </a:lnTo>
                <a:lnTo>
                  <a:pt x="4840942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3" name="Group 3"/>
          <p:cNvGrpSpPr/>
          <p:nvPr/>
        </p:nvGrpSpPr>
        <p:grpSpPr>
          <a:xfrm>
            <a:off x="9144000" y="-144720"/>
            <a:ext cx="9143280" cy="272520"/>
            <a:chOff x="9144000" y="-144720"/>
            <a:chExt cx="9143280" cy="272520"/>
          </a:xfrm>
        </p:grpSpPr>
        <p:sp>
          <p:nvSpPr>
            <p:cNvPr id="164" name="Freeform 4"/>
            <p:cNvSpPr/>
            <p:nvPr/>
          </p:nvSpPr>
          <p:spPr>
            <a:xfrm>
              <a:off x="9144000" y="0"/>
              <a:ext cx="9143280" cy="127800"/>
            </a:xfrm>
            <a:custGeom>
              <a:avLst/>
              <a:gdLst>
                <a:gd name="textAreaLeft" fmla="*/ 0 w 9143280"/>
                <a:gd name="textAreaRight" fmla="*/ 9144000 w 9143280"/>
                <a:gd name="textAreaTop" fmla="*/ 0 h 127800"/>
                <a:gd name="textAreaBottom" fmla="*/ 128520 h 127800"/>
              </a:gdLst>
              <a:ahLst/>
              <a:cxnLst/>
              <a:rect l="textAreaLeft" t="textAreaTop" r="textAreaRight" b="textAreaBottom"/>
              <a:pathLst>
                <a:path w="2408296" h="33854">
                  <a:moveTo>
                    <a:pt x="0" y="0"/>
                  </a:moveTo>
                  <a:lnTo>
                    <a:pt x="2408296" y="0"/>
                  </a:lnTo>
                  <a:lnTo>
                    <a:pt x="2408296" y="33854"/>
                  </a:lnTo>
                  <a:lnTo>
                    <a:pt x="0" y="33854"/>
                  </a:lnTo>
                  <a:close/>
                </a:path>
              </a:pathLst>
            </a:custGeom>
            <a:solidFill>
              <a:srgbClr val="8f845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" name="TextBox 5"/>
            <p:cNvSpPr/>
            <p:nvPr/>
          </p:nvSpPr>
          <p:spPr>
            <a:xfrm>
              <a:off x="9144000" y="-144720"/>
              <a:ext cx="914328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66" name="Group 6"/>
          <p:cNvGrpSpPr/>
          <p:nvPr/>
        </p:nvGrpSpPr>
        <p:grpSpPr>
          <a:xfrm>
            <a:off x="0" y="10013760"/>
            <a:ext cx="9143280" cy="272520"/>
            <a:chOff x="0" y="10013760"/>
            <a:chExt cx="9143280" cy="272520"/>
          </a:xfrm>
        </p:grpSpPr>
        <p:sp>
          <p:nvSpPr>
            <p:cNvPr id="167" name="Freeform 7"/>
            <p:cNvSpPr/>
            <p:nvPr/>
          </p:nvSpPr>
          <p:spPr>
            <a:xfrm>
              <a:off x="0" y="10158480"/>
              <a:ext cx="9143280" cy="127800"/>
            </a:xfrm>
            <a:custGeom>
              <a:avLst/>
              <a:gdLst>
                <a:gd name="textAreaLeft" fmla="*/ 0 w 9143280"/>
                <a:gd name="textAreaRight" fmla="*/ 9144000 w 9143280"/>
                <a:gd name="textAreaTop" fmla="*/ 0 h 127800"/>
                <a:gd name="textAreaBottom" fmla="*/ 128520 h 127800"/>
              </a:gdLst>
              <a:ahLst/>
              <a:cxnLst/>
              <a:rect l="textAreaLeft" t="textAreaTop" r="textAreaRight" b="textAreaBottom"/>
              <a:pathLst>
                <a:path w="2408296" h="33854">
                  <a:moveTo>
                    <a:pt x="0" y="0"/>
                  </a:moveTo>
                  <a:lnTo>
                    <a:pt x="2408296" y="0"/>
                  </a:lnTo>
                  <a:lnTo>
                    <a:pt x="2408296" y="33854"/>
                  </a:lnTo>
                  <a:lnTo>
                    <a:pt x="0" y="33854"/>
                  </a:lnTo>
                  <a:close/>
                </a:path>
              </a:pathLst>
            </a:custGeom>
            <a:solidFill>
              <a:srgbClr val="8f845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" name="TextBox 8"/>
            <p:cNvSpPr/>
            <p:nvPr/>
          </p:nvSpPr>
          <p:spPr>
            <a:xfrm>
              <a:off x="0" y="10013760"/>
              <a:ext cx="914328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69" name="Freeform 9"/>
          <p:cNvSpPr/>
          <p:nvPr/>
        </p:nvSpPr>
        <p:spPr>
          <a:xfrm>
            <a:off x="11384640" y="1285560"/>
            <a:ext cx="5175000" cy="4114080"/>
          </a:xfrm>
          <a:custGeom>
            <a:avLst/>
            <a:gdLst>
              <a:gd name="textAreaLeft" fmla="*/ 0 w 5175000"/>
              <a:gd name="textAreaRight" fmla="*/ 5175720 w 5175000"/>
              <a:gd name="textAreaTop" fmla="*/ 0 h 4114080"/>
              <a:gd name="textAreaBottom" fmla="*/ 4114800 h 4114080"/>
            </a:gdLst>
            <a:ahLst/>
            <a:cxnLst/>
            <a:rect l="textAreaLeft" t="textAreaTop" r="textAreaRight" b="textAreaBottom"/>
            <a:pathLst>
              <a:path w="5175849" h="4114800">
                <a:moveTo>
                  <a:pt x="0" y="0"/>
                </a:moveTo>
                <a:lnTo>
                  <a:pt x="5175849" y="0"/>
                </a:lnTo>
                <a:lnTo>
                  <a:pt x="51758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Freeform 11"/>
          <p:cNvSpPr/>
          <p:nvPr/>
        </p:nvSpPr>
        <p:spPr>
          <a:xfrm>
            <a:off x="6127560" y="2633400"/>
            <a:ext cx="4312080" cy="3126240"/>
          </a:xfrm>
          <a:custGeom>
            <a:avLst/>
            <a:gdLst>
              <a:gd name="textAreaLeft" fmla="*/ 0 w 4312080"/>
              <a:gd name="textAreaRight" fmla="*/ 4312800 w 4312080"/>
              <a:gd name="textAreaTop" fmla="*/ 0 h 3126240"/>
              <a:gd name="textAreaBottom" fmla="*/ 3126960 h 3126240"/>
            </a:gdLst>
            <a:ahLst/>
            <a:cxnLst/>
            <a:rect l="textAreaLeft" t="textAreaTop" r="textAreaRight" b="textAreaBottom"/>
            <a:pathLst>
              <a:path w="4312914" h="3126863">
                <a:moveTo>
                  <a:pt x="0" y="0"/>
                </a:moveTo>
                <a:lnTo>
                  <a:pt x="4312914" y="0"/>
                </a:lnTo>
                <a:lnTo>
                  <a:pt x="4312914" y="3126863"/>
                </a:lnTo>
                <a:lnTo>
                  <a:pt x="0" y="312686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12"/>
          <p:cNvSpPr/>
          <p:nvPr/>
        </p:nvSpPr>
        <p:spPr>
          <a:xfrm>
            <a:off x="11844720" y="1800000"/>
            <a:ext cx="3994920" cy="21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8538"/>
              </a:lnSpc>
            </a:pPr>
            <a:r>
              <a:rPr b="1" lang="en-US" sz="4200" strike="noStrike" u="none">
                <a:solidFill>
                  <a:srgbClr val="545454"/>
                </a:solidFill>
                <a:effectLst/>
                <a:uFillTx/>
                <a:latin typeface="Arial Bold"/>
                <a:ea typeface="Arial Bold"/>
              </a:rPr>
              <a:t>Vamos praticar!!!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8194</TotalTime>
  <Application>LibreOffice/25.2.3.2$Linux_X86_64 LibreOffice_project/520$Build-2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DAHXKM2HHuI</dc:identifier>
  <dc:language>pt-BR</dc:language>
  <cp:lastModifiedBy/>
  <dcterms:modified xsi:type="dcterms:W3CDTF">2026-10-11T17:11:06Z</dcterms:modified>
  <cp:revision>7</cp:revision>
  <dc:subject/>
  <dc:title>DuckDB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